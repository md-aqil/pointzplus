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005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1234440"/>
            <a:ext cx="2050542" cy="1371600"/>
          </a:xfrm>
          <a:prstGeom prst="rect">
            <a:avLst/>
          </a:prstGeom>
        </p:spPr>
      </p:pic>
      <p:sp>
        <p:nvSpPr>
          <p:cNvPr id="3" name="Text 0"/>
          <p:cNvSpPr/>
          <p:nvPr/>
        </p:nvSpPr>
        <p:spPr>
          <a:xfrm>
            <a:off x="731520" y="2971800"/>
            <a:ext cx="9692640" cy="1691640"/>
          </a:xfrm>
          <a:prstGeom prst="rect">
            <a:avLst/>
          </a:prstGeom>
          <a:noFill/>
          <a:ln/>
        </p:spPr>
        <p:txBody>
          <a:bodyPr wrap="square" lIns="0" tIns="0" rIns="0" bIns="0" rtlCol="0" anchor="ctr"/>
          <a:lstStyle/>
          <a:p>
            <a:pPr indent="0" marL="0">
              <a:lnSpc>
                <a:spcPts val="5000"/>
              </a:lnSpc>
              <a:buNone/>
            </a:pPr>
            <a:r>
              <a:rPr lang="en-US" sz="4000" b="1" dirty="0">
                <a:solidFill>
                  <a:srgbClr val="FFFFFF"/>
                </a:solidFill>
                <a:latin typeface="Plus Jakarta Sans" pitchFamily="34" charset="0"/>
                <a:ea typeface="Plus Jakarta Sans" pitchFamily="34" charset="-122"/>
                <a:cs typeface="Plus Jakarta Sans" pitchFamily="34" charset="-120"/>
              </a:rPr>
              <a:t>Every reward you've earned.</a:t>
            </a:r>
            <a:endParaRPr lang="en-US" sz="4000" dirty="0"/>
          </a:p>
          <a:p>
            <a:pPr indent="0" marL="0">
              <a:lnSpc>
                <a:spcPts val="5000"/>
              </a:lnSpc>
              <a:buNone/>
            </a:pPr>
            <a:r>
              <a:rPr lang="en-US" sz="4000" b="1" dirty="0">
                <a:solidFill>
                  <a:srgbClr val="FFFFFF"/>
                </a:solidFill>
                <a:latin typeface="Plus Jakarta Sans" pitchFamily="34" charset="0"/>
                <a:ea typeface="Plus Jakarta Sans" pitchFamily="34" charset="-122"/>
                <a:cs typeface="Plus Jakarta Sans" pitchFamily="34" charset="-120"/>
              </a:rPr>
              <a:t>One place. Actually usable.</a:t>
            </a:r>
            <a:endParaRPr lang="en-US" sz="4000" dirty="0"/>
          </a:p>
        </p:txBody>
      </p:sp>
      <p:pic>
        <p:nvPicPr>
          <p:cNvPr id="4" name="Image 1" descr="preencoded.png">    </p:cNvPr>
          <p:cNvPicPr>
            <a:picLocks noChangeAspect="1"/>
          </p:cNvPicPr>
          <p:nvPr/>
        </p:nvPicPr>
        <p:blipFill>
          <a:blip r:embed="rId2"/>
          <a:stretch>
            <a:fillRect/>
          </a:stretch>
        </p:blipFill>
        <p:spPr>
          <a:xfrm>
            <a:off x="731520" y="4846320"/>
            <a:ext cx="7498080" cy="271807"/>
          </a:xfrm>
          <a:prstGeom prst="rect">
            <a:avLst/>
          </a:prstGeom>
        </p:spPr>
      </p:pic>
      <p:sp>
        <p:nvSpPr>
          <p:cNvPr id="5" name="Text 1"/>
          <p:cNvSpPr/>
          <p:nvPr/>
        </p:nvSpPr>
        <p:spPr>
          <a:xfrm>
            <a:off x="731520" y="5138928"/>
            <a:ext cx="8229600" cy="310896"/>
          </a:xfrm>
          <a:prstGeom prst="rect">
            <a:avLst/>
          </a:prstGeom>
          <a:noFill/>
          <a:ln/>
        </p:spPr>
        <p:txBody>
          <a:bodyPr wrap="square" lIns="0" tIns="0" rIns="0" bIns="0" rtlCol="0" anchor="ctr"/>
          <a:lstStyle/>
          <a:p>
            <a:pPr indent="0" marL="0">
              <a:buNone/>
            </a:pPr>
            <a:r>
              <a:rPr lang="en-US" sz="1400" dirty="0">
                <a:solidFill>
                  <a:srgbClr val="C0ECFF"/>
                </a:solidFill>
                <a:latin typeface="Plus Jakarta Sans" pitchFamily="34" charset="0"/>
                <a:ea typeface="Plus Jakarta Sans" pitchFamily="34" charset="-122"/>
                <a:cs typeface="Plus Jakarta Sans" pitchFamily="34" charset="-120"/>
              </a:rPr>
              <a:t>Investor deck  ·  Draft v1  ·  For founder alignment</a:t>
            </a:r>
            <a:endParaRPr lang="en-US" sz="1400" dirty="0"/>
          </a:p>
        </p:txBody>
      </p:sp>
      <p:sp>
        <p:nvSpPr>
          <p:cNvPr id="6" name="Text 2"/>
          <p:cNvSpPr/>
          <p:nvPr/>
        </p:nvSpPr>
        <p:spPr>
          <a:xfrm>
            <a:off x="731520" y="5486400"/>
            <a:ext cx="8229600" cy="292608"/>
          </a:xfrm>
          <a:prstGeom prst="rect">
            <a:avLst/>
          </a:prstGeom>
          <a:noFill/>
          <a:ln/>
        </p:spPr>
        <p:txBody>
          <a:bodyPr wrap="square" lIns="0" tIns="0" rIns="0" bIns="0" rtlCol="0" anchor="ctr"/>
          <a:lstStyle/>
          <a:p>
            <a:pPr indent="0" marL="0">
              <a:buNone/>
            </a:pPr>
            <a:r>
              <a:rPr lang="en-US" sz="1250" dirty="0">
                <a:solidFill>
                  <a:srgbClr val="C9AEDB"/>
                </a:solidFill>
                <a:latin typeface="Plus Jakarta Sans" pitchFamily="34" charset="0"/>
                <a:ea typeface="Plus Jakarta Sans" pitchFamily="34" charset="-122"/>
                <a:cs typeface="Plus Jakarta Sans" pitchFamily="34" charset="-120"/>
              </a:rPr>
              <a:t>Shishir Bharti  ·  Luca Altomare  ·  Manish Jha</a:t>
            </a:r>
            <a:endParaRPr lang="en-US" sz="1250" dirty="0"/>
          </a:p>
        </p:txBody>
      </p:sp>
      <p:pic>
        <p:nvPicPr>
          <p:cNvPr id="7" name="Image 2" descr="preencoded.png">    </p:cNvPr>
          <p:cNvPicPr>
            <a:picLocks noChangeAspect="1"/>
          </p:cNvPicPr>
          <p:nvPr/>
        </p:nvPicPr>
        <p:blipFill>
          <a:blip r:embed="rId3"/>
          <a:stretch>
            <a:fillRect/>
          </a:stretch>
        </p:blipFill>
        <p:spPr>
          <a:xfrm>
            <a:off x="731520" y="6345936"/>
            <a:ext cx="167445" cy="256032"/>
          </a:xfrm>
          <a:prstGeom prst="rect">
            <a:avLst/>
          </a:prstGeom>
        </p:spPr>
      </p:pic>
      <p:sp>
        <p:nvSpPr>
          <p:cNvPr id="8" name="Text 3"/>
          <p:cNvSpPr/>
          <p:nvPr/>
        </p:nvSpPr>
        <p:spPr>
          <a:xfrm>
            <a:off x="1280160" y="6400800"/>
            <a:ext cx="5486400" cy="219456"/>
          </a:xfrm>
          <a:prstGeom prst="rect">
            <a:avLst/>
          </a:prstGeom>
          <a:noFill/>
          <a:ln/>
        </p:spPr>
        <p:txBody>
          <a:bodyPr wrap="square" lIns="0" tIns="0" rIns="0" bIns="0" rtlCol="0" anchor="ctr"/>
          <a:lstStyle/>
          <a:p>
            <a:pPr indent="0" marL="0">
              <a:buNone/>
            </a:pPr>
            <a:r>
              <a:rPr lang="en-US" sz="850" dirty="0">
                <a:solidFill>
                  <a:srgbClr val="8C6FA3"/>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9" name="Text 4"/>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8C6FA3"/>
                </a:solidFill>
                <a:latin typeface="Plus Jakarta Sans" pitchFamily="34" charset="0"/>
                <a:ea typeface="Plus Jakarta Sans" pitchFamily="34" charset="-122"/>
                <a:cs typeface="Plus Jakarta Sans"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HOW TO READ IT</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Two markers run through this deck</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02</a:t>
            </a:r>
            <a:endParaRPr lang="en-US" sz="850" dirty="0"/>
          </a:p>
        </p:txBody>
      </p:sp>
      <p:sp>
        <p:nvSpPr>
          <p:cNvPr id="7" name="Text 4"/>
          <p:cNvSpPr/>
          <p:nvPr/>
        </p:nvSpPr>
        <p:spPr>
          <a:xfrm>
            <a:off x="731520" y="1499616"/>
            <a:ext cx="9692640" cy="284480"/>
          </a:xfrm>
          <a:prstGeom prst="rect">
            <a:avLst/>
          </a:prstGeom>
          <a:noFill/>
          <a:ln/>
        </p:spPr>
        <p:txBody>
          <a:bodyPr wrap="square" lIns="0" tIns="0" rIns="0" bIns="0" rtlCol="0" anchor="ctr"/>
          <a:lstStyle/>
          <a:p>
            <a:pPr indent="0" marL="0">
              <a:lnSpc>
                <a:spcPts val="2030"/>
              </a:lnSpc>
              <a:buNone/>
            </a:pPr>
            <a:r>
              <a:rPr lang="en-US" sz="1400" dirty="0">
                <a:solidFill>
                  <a:srgbClr val="000000"/>
                </a:solidFill>
                <a:latin typeface="Plus Jakarta Sans" pitchFamily="34" charset="0"/>
                <a:ea typeface="Plus Jakarta Sans" pitchFamily="34" charset="-122"/>
                <a:cs typeface="Plus Jakarta Sans" pitchFamily="34" charset="-120"/>
              </a:rPr>
              <a:t>This is a draft, not a finished pitch. Half of it is written. Half of it is the work we still have to do.</a:t>
            </a:r>
            <a:endParaRPr lang="en-US" sz="1400" dirty="0"/>
          </a:p>
        </p:txBody>
      </p:sp>
      <p:sp>
        <p:nvSpPr>
          <p:cNvPr id="8" name="Shape 5"/>
          <p:cNvSpPr/>
          <p:nvPr/>
        </p:nvSpPr>
        <p:spPr>
          <a:xfrm>
            <a:off x="731520" y="2049272"/>
            <a:ext cx="5394960" cy="1371600"/>
          </a:xfrm>
          <a:prstGeom prst="roundRect">
            <a:avLst>
              <a:gd name="adj" fmla="val 4667"/>
            </a:avLst>
          </a:prstGeom>
          <a:solidFill>
            <a:srgbClr val="F7F3F9"/>
          </a:solidFill>
          <a:ln w="9525">
            <a:solidFill>
              <a:srgbClr val="D8D2DC"/>
            </a:solidFill>
            <a:prstDash val="solid"/>
          </a:ln>
        </p:spPr>
      </p:sp>
      <p:sp>
        <p:nvSpPr>
          <p:cNvPr id="9" name="Text 6"/>
          <p:cNvSpPr/>
          <p:nvPr/>
        </p:nvSpPr>
        <p:spPr>
          <a:xfrm>
            <a:off x="1005840" y="2250440"/>
            <a:ext cx="4572000" cy="274320"/>
          </a:xfrm>
          <a:prstGeom prst="rect">
            <a:avLst/>
          </a:prstGeom>
          <a:noFill/>
          <a:ln/>
        </p:spPr>
        <p:txBody>
          <a:bodyPr wrap="square" lIns="0" tIns="0" rIns="0" bIns="0" rtlCol="0" anchor="ctr"/>
          <a:lstStyle/>
          <a:p>
            <a:pPr indent="0" marL="0">
              <a:buNone/>
            </a:pPr>
            <a:r>
              <a:rPr lang="en-US" sz="1200" b="1" spc="160" kern="0" dirty="0">
                <a:solidFill>
                  <a:srgbClr val="3F0059"/>
                </a:solidFill>
                <a:latin typeface="Plus Jakarta Sans" pitchFamily="34" charset="0"/>
                <a:ea typeface="Plus Jakarta Sans" pitchFamily="34" charset="-122"/>
                <a:cs typeface="Plus Jakarta Sans" pitchFamily="34" charset="-120"/>
              </a:rPr>
              <a:t>DRAFTED</a:t>
            </a:r>
            <a:endParaRPr lang="en-US" sz="1200" dirty="0"/>
          </a:p>
        </p:txBody>
      </p:sp>
      <p:sp>
        <p:nvSpPr>
          <p:cNvPr id="10" name="Text 7"/>
          <p:cNvSpPr/>
          <p:nvPr/>
        </p:nvSpPr>
        <p:spPr>
          <a:xfrm>
            <a:off x="1005840" y="2597912"/>
            <a:ext cx="4846320" cy="68580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Written from what we already have. Argue with it — don't accept it because it's on a slide.</a:t>
            </a:r>
            <a:endParaRPr lang="en-US" sz="1250" dirty="0"/>
          </a:p>
        </p:txBody>
      </p:sp>
      <p:sp>
        <p:nvSpPr>
          <p:cNvPr id="11" name="Shape 8"/>
          <p:cNvSpPr/>
          <p:nvPr/>
        </p:nvSpPr>
        <p:spPr>
          <a:xfrm>
            <a:off x="6492240" y="2049272"/>
            <a:ext cx="4937760" cy="1371600"/>
          </a:xfrm>
          <a:prstGeom prst="roundRect">
            <a:avLst>
              <a:gd name="adj" fmla="val 4667"/>
            </a:avLst>
          </a:prstGeom>
          <a:solidFill>
            <a:srgbClr val="FFE878"/>
          </a:solidFill>
          <a:ln w="12700">
            <a:solidFill>
              <a:srgbClr val="FFE878"/>
            </a:solidFill>
            <a:prstDash val="solid"/>
          </a:ln>
        </p:spPr>
      </p:sp>
      <p:sp>
        <p:nvSpPr>
          <p:cNvPr id="12" name="Text 9"/>
          <p:cNvSpPr/>
          <p:nvPr/>
        </p:nvSpPr>
        <p:spPr>
          <a:xfrm>
            <a:off x="6766560" y="2250440"/>
            <a:ext cx="4572000" cy="274320"/>
          </a:xfrm>
          <a:prstGeom prst="rect">
            <a:avLst/>
          </a:prstGeom>
          <a:noFill/>
          <a:ln/>
        </p:spPr>
        <p:txBody>
          <a:bodyPr wrap="square" lIns="0" tIns="0" rIns="0" bIns="0" rtlCol="0" anchor="ctr"/>
          <a:lstStyle/>
          <a:p>
            <a:pPr indent="0" marL="0">
              <a:buNone/>
            </a:pPr>
            <a:r>
              <a:rPr lang="en-US" sz="1200" b="1" spc="160" kern="0" dirty="0">
                <a:solidFill>
                  <a:srgbClr val="000000"/>
                </a:solidFill>
                <a:latin typeface="Plus Jakarta Sans" pitchFamily="34" charset="0"/>
                <a:ea typeface="Plus Jakarta Sans" pitchFamily="34" charset="-122"/>
                <a:cs typeface="Plus Jakarta Sans" pitchFamily="34" charset="-120"/>
              </a:rPr>
              <a:t>OPEN</a:t>
            </a:r>
            <a:endParaRPr lang="en-US" sz="1200" dirty="0"/>
          </a:p>
        </p:txBody>
      </p:sp>
      <p:sp>
        <p:nvSpPr>
          <p:cNvPr id="13" name="Text 10"/>
          <p:cNvSpPr/>
          <p:nvPr/>
        </p:nvSpPr>
        <p:spPr>
          <a:xfrm>
            <a:off x="6766560" y="2597912"/>
            <a:ext cx="4389120" cy="68580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We haven't decided this, or I don't have the facts. This is the real work.</a:t>
            </a:r>
            <a:endParaRPr lang="en-US" sz="1250" dirty="0"/>
          </a:p>
        </p:txBody>
      </p:sp>
      <p:sp>
        <p:nvSpPr>
          <p:cNvPr id="14" name="Text 11"/>
          <p:cNvSpPr/>
          <p:nvPr/>
        </p:nvSpPr>
        <p:spPr>
          <a:xfrm>
            <a:off x="731520" y="3878072"/>
            <a:ext cx="10058400" cy="822960"/>
          </a:xfrm>
          <a:prstGeom prst="rect">
            <a:avLst/>
          </a:prstGeom>
          <a:noFill/>
          <a:ln/>
        </p:spPr>
        <p:txBody>
          <a:bodyPr wrap="square" lIns="0" tIns="0" rIns="0" bIns="0" rtlCol="0" anchor="ctr"/>
          <a:lstStyle/>
          <a:p>
            <a:pPr indent="0" marL="0">
              <a:lnSpc>
                <a:spcPts val="3000"/>
              </a:lnSpc>
              <a:buNone/>
            </a:pPr>
            <a:r>
              <a:rPr lang="en-US" sz="2000" b="1" dirty="0">
                <a:solidFill>
                  <a:srgbClr val="3F0059"/>
                </a:solidFill>
                <a:latin typeface="Plus Jakarta Sans" pitchFamily="34" charset="0"/>
                <a:ea typeface="Plus Jakarta Sans" pitchFamily="34" charset="-122"/>
                <a:cs typeface="Plus Jakarta Sans" pitchFamily="34" charset="-120"/>
              </a:rPr>
              <a:t>Every open question here is a question an investor will ask.</a:t>
            </a:r>
            <a:endParaRPr lang="en-US" sz="2000" dirty="0"/>
          </a:p>
          <a:p>
            <a:pPr indent="0" marL="0">
              <a:lnSpc>
                <a:spcPts val="3000"/>
              </a:lnSpc>
              <a:buNone/>
            </a:pPr>
            <a:r>
              <a:rPr lang="en-US" sz="2000" b="1" dirty="0">
                <a:solidFill>
                  <a:srgbClr val="3F0059"/>
                </a:solidFill>
                <a:latin typeface="Plus Jakarta Sans" pitchFamily="34" charset="0"/>
                <a:ea typeface="Plus Jakarta Sans" pitchFamily="34" charset="-122"/>
                <a:cs typeface="Plus Jakarta Sans" pitchFamily="34" charset="-120"/>
              </a:rPr>
              <a:t>If we can't answer it to each other, we can't answer it to them.</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WHERE THIS GOES</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Vision</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03</a:t>
            </a:r>
            <a:endParaRPr lang="en-US" sz="850" dirty="0"/>
          </a:p>
        </p:txBody>
      </p:sp>
      <p:sp>
        <p:nvSpPr>
          <p:cNvPr id="7" name="Shape 4"/>
          <p:cNvSpPr/>
          <p:nvPr/>
        </p:nvSpPr>
        <p:spPr>
          <a:xfrm>
            <a:off x="731520" y="1499616"/>
            <a:ext cx="10728655" cy="1417320"/>
          </a:xfrm>
          <a:prstGeom prst="roundRect">
            <a:avLst>
              <a:gd name="adj" fmla="val 5161"/>
            </a:avLst>
          </a:prstGeom>
          <a:solidFill>
            <a:srgbClr val="3F0059"/>
          </a:solidFill>
          <a:ln w="12700">
            <a:solidFill>
              <a:srgbClr val="3F0059"/>
            </a:solidFill>
            <a:prstDash val="solid"/>
          </a:ln>
        </p:spPr>
      </p:sp>
      <p:sp>
        <p:nvSpPr>
          <p:cNvPr id="8" name="Text 5"/>
          <p:cNvSpPr/>
          <p:nvPr/>
        </p:nvSpPr>
        <p:spPr>
          <a:xfrm>
            <a:off x="1060704" y="1719072"/>
            <a:ext cx="10070287" cy="1005840"/>
          </a:xfrm>
          <a:prstGeom prst="rect">
            <a:avLst/>
          </a:prstGeom>
          <a:noFill/>
          <a:ln/>
        </p:spPr>
        <p:txBody>
          <a:bodyPr wrap="square" lIns="0" tIns="0" rIns="0" bIns="0" rtlCol="0" anchor="ctr"/>
          <a:lstStyle/>
          <a:p>
            <a:pPr indent="0" marL="0">
              <a:lnSpc>
                <a:spcPts val="3300"/>
              </a:lnSpc>
              <a:buNone/>
            </a:pPr>
            <a:r>
              <a:rPr lang="en-US" sz="2400" b="1" dirty="0">
                <a:solidFill>
                  <a:srgbClr val="FFFFFF"/>
                </a:solidFill>
                <a:latin typeface="Plus Jakarta Sans" pitchFamily="34" charset="0"/>
                <a:ea typeface="Plus Jakarta Sans" pitchFamily="34" charset="-122"/>
                <a:cs typeface="Plus Jakarta Sans" pitchFamily="34" charset="-120"/>
              </a:rPr>
              <a:t>A world where the rewards you've earned work like money — visible, comparable, and spendable anywhere.</a:t>
            </a:r>
            <a:endParaRPr lang="en-US" sz="2400" dirty="0"/>
          </a:p>
        </p:txBody>
      </p:sp>
      <p:sp>
        <p:nvSpPr>
          <p:cNvPr id="9" name="Text 6"/>
          <p:cNvSpPr/>
          <p:nvPr/>
        </p:nvSpPr>
        <p:spPr>
          <a:xfrm>
            <a:off x="731520" y="3172968"/>
            <a:ext cx="10058400" cy="650240"/>
          </a:xfrm>
          <a:prstGeom prst="rect">
            <a:avLst/>
          </a:prstGeom>
          <a:noFill/>
          <a:ln/>
        </p:spPr>
        <p:txBody>
          <a:bodyPr wrap="square" lIns="0" tIns="0" rIns="0" bIns="0" rtlCol="0" anchor="ctr"/>
          <a:lstStyle/>
          <a:p>
            <a:pPr indent="0" marL="0">
              <a:lnSpc>
                <a:spcPts val="2320"/>
              </a:lnSpc>
              <a:buNone/>
            </a:pPr>
            <a:r>
              <a:rPr lang="en-US" sz="1600" dirty="0">
                <a:solidFill>
                  <a:srgbClr val="000000"/>
                </a:solidFill>
                <a:latin typeface="Plus Jakarta Sans" pitchFamily="34" charset="0"/>
                <a:ea typeface="Plus Jakarta Sans" pitchFamily="34" charset="-122"/>
                <a:cs typeface="Plus Jakarta Sans" pitchFamily="34" charset="-120"/>
              </a:rPr>
              <a:t>Today loyalty points are the opposite of money. You can't see them all. You can't compare them. Most of them quietly die.</a:t>
            </a:r>
            <a:endParaRPr lang="en-US" sz="1600" dirty="0"/>
          </a:p>
        </p:txBody>
      </p:sp>
      <p:sp>
        <p:nvSpPr>
          <p:cNvPr id="10" name="Shape 7"/>
          <p:cNvSpPr/>
          <p:nvPr/>
        </p:nvSpPr>
        <p:spPr>
          <a:xfrm>
            <a:off x="731520" y="4042664"/>
            <a:ext cx="10728655" cy="1339596"/>
          </a:xfrm>
          <a:prstGeom prst="roundRect">
            <a:avLst>
              <a:gd name="adj" fmla="val 4778"/>
            </a:avLst>
          </a:prstGeom>
          <a:solidFill>
            <a:srgbClr val="FFE878"/>
          </a:solidFill>
          <a:ln w="12700">
            <a:solidFill>
              <a:srgbClr val="FFE878"/>
            </a:solidFill>
            <a:prstDash val="solid"/>
          </a:ln>
        </p:spPr>
      </p:sp>
      <p:sp>
        <p:nvSpPr>
          <p:cNvPr id="11" name="Text 8"/>
          <p:cNvSpPr/>
          <p:nvPr/>
        </p:nvSpPr>
        <p:spPr>
          <a:xfrm>
            <a:off x="987552" y="4161536"/>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2" name="Text 9"/>
          <p:cNvSpPr/>
          <p:nvPr/>
        </p:nvSpPr>
        <p:spPr>
          <a:xfrm>
            <a:off x="1005840" y="4408424"/>
            <a:ext cx="10180015" cy="882396"/>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Would a competitor's vision read differently? If not, it's wallpaper.</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Does this tell us what to say no to next Tuesday?</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Write your own one-line version before reading mine. Then compare all three.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WHAT WE SHIP</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Mission</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04</a:t>
            </a:r>
            <a:endParaRPr lang="en-US" sz="850" dirty="0"/>
          </a:p>
        </p:txBody>
      </p:sp>
      <p:sp>
        <p:nvSpPr>
          <p:cNvPr id="7" name="Shape 4"/>
          <p:cNvSpPr/>
          <p:nvPr/>
        </p:nvSpPr>
        <p:spPr>
          <a:xfrm>
            <a:off x="731520" y="1499616"/>
            <a:ext cx="10728655" cy="1097280"/>
          </a:xfrm>
          <a:prstGeom prst="roundRect">
            <a:avLst>
              <a:gd name="adj" fmla="val 6667"/>
            </a:avLst>
          </a:prstGeom>
          <a:solidFill>
            <a:srgbClr val="C0ECFF"/>
          </a:solidFill>
          <a:ln w="12700">
            <a:solidFill>
              <a:srgbClr val="C0ECFF"/>
            </a:solidFill>
            <a:prstDash val="solid"/>
          </a:ln>
        </p:spPr>
      </p:sp>
      <p:sp>
        <p:nvSpPr>
          <p:cNvPr id="8" name="Text 5"/>
          <p:cNvSpPr/>
          <p:nvPr/>
        </p:nvSpPr>
        <p:spPr>
          <a:xfrm>
            <a:off x="1060704" y="1682496"/>
            <a:ext cx="10070287" cy="731520"/>
          </a:xfrm>
          <a:prstGeom prst="rect">
            <a:avLst/>
          </a:prstGeom>
          <a:noFill/>
          <a:ln/>
        </p:spPr>
        <p:txBody>
          <a:bodyPr wrap="square" lIns="0" tIns="0" rIns="0" bIns="0" rtlCol="0" anchor="ctr"/>
          <a:lstStyle/>
          <a:p>
            <a:pPr indent="0" marL="0">
              <a:lnSpc>
                <a:spcPts val="3200"/>
              </a:lnSpc>
              <a:buNone/>
            </a:pPr>
            <a:r>
              <a:rPr lang="en-US" sz="2400" b="1" dirty="0">
                <a:solidFill>
                  <a:srgbClr val="000000"/>
                </a:solidFill>
                <a:latin typeface="Plus Jakarta Sans" pitchFamily="34" charset="0"/>
                <a:ea typeface="Plus Jakarta Sans" pitchFamily="34" charset="-122"/>
                <a:cs typeface="Plus Jakarta Sans" pitchFamily="34" charset="-120"/>
              </a:rPr>
              <a:t>Turn fragmented, forgotten loyalty value into money people can actually use.</a:t>
            </a:r>
            <a:endParaRPr lang="en-US" sz="2400" dirty="0"/>
          </a:p>
        </p:txBody>
      </p:sp>
      <p:sp>
        <p:nvSpPr>
          <p:cNvPr id="9" name="Text 6"/>
          <p:cNvSpPr/>
          <p:nvPr/>
        </p:nvSpPr>
        <p:spPr>
          <a:xfrm>
            <a:off x="731520" y="2816352"/>
            <a:ext cx="10058400" cy="304800"/>
          </a:xfrm>
          <a:prstGeom prst="rect">
            <a:avLst/>
          </a:prstGeom>
          <a:noFill/>
          <a:ln/>
        </p:spPr>
        <p:txBody>
          <a:bodyPr wrap="square" lIns="0" tIns="0" rIns="0" bIns="0" rtlCol="0" anchor="ctr"/>
          <a:lstStyle/>
          <a:p>
            <a:pPr indent="0" marL="0">
              <a:lnSpc>
                <a:spcPts val="2175"/>
              </a:lnSpc>
              <a:buNone/>
            </a:pPr>
            <a:r>
              <a:rPr lang="en-US" sz="1500" dirty="0">
                <a:solidFill>
                  <a:srgbClr val="000000"/>
                </a:solidFill>
                <a:latin typeface="Plus Jakarta Sans" pitchFamily="34" charset="0"/>
                <a:ea typeface="Plus Jakarta Sans" pitchFamily="34" charset="-122"/>
                <a:cs typeface="Plus Jakarta Sans" pitchFamily="34" charset="-120"/>
              </a:rPr>
              <a:t>The vision is where we're going. The mission is what gets built next sprint.</a:t>
            </a:r>
            <a:endParaRPr lang="en-US" sz="1500" dirty="0"/>
          </a:p>
        </p:txBody>
      </p:sp>
      <p:sp>
        <p:nvSpPr>
          <p:cNvPr id="10" name="Text 7"/>
          <p:cNvSpPr/>
          <p:nvPr/>
        </p:nvSpPr>
        <p:spPr>
          <a:xfrm>
            <a:off x="731520" y="3267456"/>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AND WHAT WE SHOULD NOT BECOME</a:t>
            </a:r>
            <a:endParaRPr lang="en-US" sz="1000" dirty="0"/>
          </a:p>
        </p:txBody>
      </p:sp>
      <p:sp>
        <p:nvSpPr>
          <p:cNvPr id="11" name="Text 8"/>
          <p:cNvSpPr/>
          <p:nvPr/>
        </p:nvSpPr>
        <p:spPr>
          <a:xfrm>
            <a:off x="768096" y="3560064"/>
            <a:ext cx="10021824" cy="1502664"/>
          </a:xfrm>
          <a:prstGeom prst="rect">
            <a:avLst/>
          </a:prstGeom>
          <a:noFill/>
          <a:ln/>
        </p:spPr>
        <p:txBody>
          <a:bodyPr wrap="square" lIns="0" tIns="0" rIns="0" bIns="0" rtlCol="0" anchor="ctr"/>
          <a:lstStyle/>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A coupon site</a:t>
            </a:r>
            <a:endParaRPr lang="en-US" sz="1300" dirty="0"/>
          </a:p>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A cashback clone</a:t>
            </a:r>
            <a:endParaRPr lang="en-US" sz="1300" dirty="0"/>
          </a:p>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A dashboard people open three times and abandon</a:t>
            </a:r>
            <a:endParaRPr lang="en-US" sz="1300" dirty="0"/>
          </a:p>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A white-label vendor with no brand of our own</a:t>
            </a:r>
            <a:endParaRPr lang="en-US" sz="1300" dirty="0"/>
          </a:p>
        </p:txBody>
      </p:sp>
      <p:sp>
        <p:nvSpPr>
          <p:cNvPr id="12" name="Shape 9"/>
          <p:cNvSpPr/>
          <p:nvPr/>
        </p:nvSpPr>
        <p:spPr>
          <a:xfrm>
            <a:off x="731520" y="5263896"/>
            <a:ext cx="10728655" cy="1051560"/>
          </a:xfrm>
          <a:prstGeom prst="roundRect">
            <a:avLst>
              <a:gd name="adj" fmla="val 6087"/>
            </a:avLst>
          </a:prstGeom>
          <a:solidFill>
            <a:srgbClr val="FFE878"/>
          </a:solidFill>
          <a:ln w="12700">
            <a:solidFill>
              <a:srgbClr val="FFE878"/>
            </a:solidFill>
            <a:prstDash val="solid"/>
          </a:ln>
        </p:spPr>
      </p:sp>
      <p:sp>
        <p:nvSpPr>
          <p:cNvPr id="13" name="Text 10"/>
          <p:cNvSpPr/>
          <p:nvPr/>
        </p:nvSpPr>
        <p:spPr>
          <a:xfrm>
            <a:off x="987552" y="5382768"/>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4" name="Text 11"/>
          <p:cNvSpPr/>
          <p:nvPr/>
        </p:nvSpPr>
        <p:spPr>
          <a:xfrm>
            <a:off x="1005840" y="5629656"/>
            <a:ext cx="10180015" cy="594360"/>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Does this mission describe something an engineer builds, or is it a slogan?</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Which of the four “not” statements would actually cost us something to honour?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THE PROBLEM</a:t>
            </a:r>
            <a:endParaRPr lang="en-US" sz="950" dirty="0"/>
          </a:p>
        </p:txBody>
      </p:sp>
      <p:sp>
        <p:nvSpPr>
          <p:cNvPr id="3" name="Text 1"/>
          <p:cNvSpPr/>
          <p:nvPr/>
        </p:nvSpPr>
        <p:spPr>
          <a:xfrm>
            <a:off x="731520" y="749808"/>
            <a:ext cx="10728655" cy="914400"/>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Loyalty points are money that behaves like nothing</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05</a:t>
            </a:r>
            <a:endParaRPr lang="en-US" sz="850" dirty="0"/>
          </a:p>
        </p:txBody>
      </p:sp>
      <p:sp>
        <p:nvSpPr>
          <p:cNvPr id="7" name="Text 4"/>
          <p:cNvSpPr/>
          <p:nvPr/>
        </p:nvSpPr>
        <p:spPr>
          <a:xfrm>
            <a:off x="731520" y="1810512"/>
            <a:ext cx="10424160" cy="304800"/>
          </a:xfrm>
          <a:prstGeom prst="rect">
            <a:avLst/>
          </a:prstGeom>
          <a:noFill/>
          <a:ln/>
        </p:spPr>
        <p:txBody>
          <a:bodyPr wrap="square" lIns="0" tIns="0" rIns="0" bIns="0" rtlCol="0" anchor="ctr"/>
          <a:lstStyle/>
          <a:p>
            <a:pPr indent="0" marL="0">
              <a:lnSpc>
                <a:spcPts val="2175"/>
              </a:lnSpc>
              <a:buNone/>
            </a:pPr>
            <a:r>
              <a:rPr lang="en-US" sz="1500" dirty="0">
                <a:solidFill>
                  <a:srgbClr val="000000"/>
                </a:solidFill>
                <a:latin typeface="Plus Jakarta Sans" pitchFamily="34" charset="0"/>
                <a:ea typeface="Plus Jakarta Sans" pitchFamily="34" charset="-122"/>
                <a:cs typeface="Plus Jakarta Sans" pitchFamily="34" charset="-120"/>
              </a:rPr>
              <a:t>People earn rewards across a dozen programs. Cards, airlines, hotels, shopping, fuel, food. Three things go wrong.</a:t>
            </a:r>
            <a:endParaRPr lang="en-US" sz="1500" dirty="0"/>
          </a:p>
        </p:txBody>
      </p:sp>
      <p:sp>
        <p:nvSpPr>
          <p:cNvPr id="8" name="Shape 5"/>
          <p:cNvSpPr/>
          <p:nvPr/>
        </p:nvSpPr>
        <p:spPr>
          <a:xfrm>
            <a:off x="731520" y="2426208"/>
            <a:ext cx="3320186" cy="1463040"/>
          </a:xfrm>
          <a:prstGeom prst="roundRect">
            <a:avLst>
              <a:gd name="adj" fmla="val 5000"/>
            </a:avLst>
          </a:prstGeom>
          <a:solidFill>
            <a:srgbClr val="F7F3F9"/>
          </a:solidFill>
          <a:ln w="9525">
            <a:solidFill>
              <a:srgbClr val="D8D2DC"/>
            </a:solidFill>
            <a:prstDash val="solid"/>
          </a:ln>
        </p:spPr>
      </p:sp>
      <p:sp>
        <p:nvSpPr>
          <p:cNvPr id="9" name="Text 6"/>
          <p:cNvSpPr/>
          <p:nvPr/>
        </p:nvSpPr>
        <p:spPr>
          <a:xfrm>
            <a:off x="969264" y="2645664"/>
            <a:ext cx="2862986" cy="310896"/>
          </a:xfrm>
          <a:prstGeom prst="rect">
            <a:avLst/>
          </a:prstGeom>
          <a:noFill/>
          <a:ln/>
        </p:spPr>
        <p:txBody>
          <a:bodyPr wrap="square" lIns="0" tIns="0" rIns="0" bIns="0" rtlCol="0" anchor="ctr"/>
          <a:lstStyle/>
          <a:p>
            <a:pPr indent="0" marL="0">
              <a:buNone/>
            </a:pPr>
            <a:r>
              <a:rPr lang="en-US" sz="1600" b="1" dirty="0">
                <a:solidFill>
                  <a:srgbClr val="3F0059"/>
                </a:solidFill>
                <a:latin typeface="Plus Jakarta Sans" pitchFamily="34" charset="0"/>
                <a:ea typeface="Plus Jakarta Sans" pitchFamily="34" charset="-122"/>
                <a:cs typeface="Plus Jakarta Sans" pitchFamily="34" charset="-120"/>
              </a:rPr>
              <a:t>You can't see it</a:t>
            </a:r>
            <a:endParaRPr lang="en-US" sz="1600" dirty="0"/>
          </a:p>
        </p:txBody>
      </p:sp>
      <p:sp>
        <p:nvSpPr>
          <p:cNvPr id="10" name="Text 7"/>
          <p:cNvSpPr/>
          <p:nvPr/>
        </p:nvSpPr>
        <p:spPr>
          <a:xfrm>
            <a:off x="969264" y="3029712"/>
            <a:ext cx="2862986" cy="73152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Points sit in a dozen apps and inboxes. Nobody keeps a running total.</a:t>
            </a:r>
            <a:endParaRPr lang="en-US" sz="1250" dirty="0"/>
          </a:p>
        </p:txBody>
      </p:sp>
      <p:sp>
        <p:nvSpPr>
          <p:cNvPr id="11" name="Shape 8"/>
          <p:cNvSpPr/>
          <p:nvPr/>
        </p:nvSpPr>
        <p:spPr>
          <a:xfrm>
            <a:off x="4353458" y="2426208"/>
            <a:ext cx="3320186" cy="1463040"/>
          </a:xfrm>
          <a:prstGeom prst="roundRect">
            <a:avLst>
              <a:gd name="adj" fmla="val 5000"/>
            </a:avLst>
          </a:prstGeom>
          <a:solidFill>
            <a:srgbClr val="F7F3F9"/>
          </a:solidFill>
          <a:ln w="9525">
            <a:solidFill>
              <a:srgbClr val="D8D2DC"/>
            </a:solidFill>
            <a:prstDash val="solid"/>
          </a:ln>
        </p:spPr>
      </p:sp>
      <p:sp>
        <p:nvSpPr>
          <p:cNvPr id="12" name="Text 9"/>
          <p:cNvSpPr/>
          <p:nvPr/>
        </p:nvSpPr>
        <p:spPr>
          <a:xfrm>
            <a:off x="4591202" y="2645664"/>
            <a:ext cx="2862986" cy="310896"/>
          </a:xfrm>
          <a:prstGeom prst="rect">
            <a:avLst/>
          </a:prstGeom>
          <a:noFill/>
          <a:ln/>
        </p:spPr>
        <p:txBody>
          <a:bodyPr wrap="square" lIns="0" tIns="0" rIns="0" bIns="0" rtlCol="0" anchor="ctr"/>
          <a:lstStyle/>
          <a:p>
            <a:pPr indent="0" marL="0">
              <a:buNone/>
            </a:pPr>
            <a:r>
              <a:rPr lang="en-US" sz="1600" b="1" dirty="0">
                <a:solidFill>
                  <a:srgbClr val="3F0059"/>
                </a:solidFill>
                <a:latin typeface="Plus Jakarta Sans" pitchFamily="34" charset="0"/>
                <a:ea typeface="Plus Jakarta Sans" pitchFamily="34" charset="-122"/>
                <a:cs typeface="Plus Jakarta Sans" pitchFamily="34" charset="-120"/>
              </a:rPr>
              <a:t>You can't compare it</a:t>
            </a:r>
            <a:endParaRPr lang="en-US" sz="1600" dirty="0"/>
          </a:p>
        </p:txBody>
      </p:sp>
      <p:sp>
        <p:nvSpPr>
          <p:cNvPr id="13" name="Text 10"/>
          <p:cNvSpPr/>
          <p:nvPr/>
        </p:nvSpPr>
        <p:spPr>
          <a:xfrm>
            <a:off x="4591202" y="3029712"/>
            <a:ext cx="2862986" cy="73152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5,000 of one thing versus 200 of another. Which is worth more? Nobody knows.</a:t>
            </a:r>
            <a:endParaRPr lang="en-US" sz="1250" dirty="0"/>
          </a:p>
        </p:txBody>
      </p:sp>
      <p:sp>
        <p:nvSpPr>
          <p:cNvPr id="14" name="Shape 11"/>
          <p:cNvSpPr/>
          <p:nvPr/>
        </p:nvSpPr>
        <p:spPr>
          <a:xfrm>
            <a:off x="7975397" y="2426208"/>
            <a:ext cx="3320186" cy="1463040"/>
          </a:xfrm>
          <a:prstGeom prst="roundRect">
            <a:avLst>
              <a:gd name="adj" fmla="val 5000"/>
            </a:avLst>
          </a:prstGeom>
          <a:solidFill>
            <a:srgbClr val="F7F3F9"/>
          </a:solidFill>
          <a:ln w="9525">
            <a:solidFill>
              <a:srgbClr val="D8D2DC"/>
            </a:solidFill>
            <a:prstDash val="solid"/>
          </a:ln>
        </p:spPr>
      </p:sp>
      <p:sp>
        <p:nvSpPr>
          <p:cNvPr id="15" name="Text 12"/>
          <p:cNvSpPr/>
          <p:nvPr/>
        </p:nvSpPr>
        <p:spPr>
          <a:xfrm>
            <a:off x="8213141" y="2645664"/>
            <a:ext cx="2862986" cy="310896"/>
          </a:xfrm>
          <a:prstGeom prst="rect">
            <a:avLst/>
          </a:prstGeom>
          <a:noFill/>
          <a:ln/>
        </p:spPr>
        <p:txBody>
          <a:bodyPr wrap="square" lIns="0" tIns="0" rIns="0" bIns="0" rtlCol="0" anchor="ctr"/>
          <a:lstStyle/>
          <a:p>
            <a:pPr indent="0" marL="0">
              <a:buNone/>
            </a:pPr>
            <a:r>
              <a:rPr lang="en-US" sz="1600" b="1" dirty="0">
                <a:solidFill>
                  <a:srgbClr val="3F0059"/>
                </a:solidFill>
                <a:latin typeface="Plus Jakarta Sans" pitchFamily="34" charset="0"/>
                <a:ea typeface="Plus Jakarta Sans" pitchFamily="34" charset="-122"/>
                <a:cs typeface="Plus Jakarta Sans" pitchFamily="34" charset="-120"/>
              </a:rPr>
              <a:t>You lose it</a:t>
            </a:r>
            <a:endParaRPr lang="en-US" sz="1600" dirty="0"/>
          </a:p>
        </p:txBody>
      </p:sp>
      <p:sp>
        <p:nvSpPr>
          <p:cNvPr id="16" name="Text 13"/>
          <p:cNvSpPr/>
          <p:nvPr/>
        </p:nvSpPr>
        <p:spPr>
          <a:xfrm>
            <a:off x="8213141" y="3029712"/>
            <a:ext cx="2862986" cy="73152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Points expire on clocks you can't see.</a:t>
            </a:r>
            <a:endParaRPr lang="en-US" sz="1250" dirty="0"/>
          </a:p>
        </p:txBody>
      </p:sp>
      <p:sp>
        <p:nvSpPr>
          <p:cNvPr id="17" name="Text 14"/>
          <p:cNvSpPr/>
          <p:nvPr/>
        </p:nvSpPr>
        <p:spPr>
          <a:xfrm>
            <a:off x="731520" y="4090416"/>
            <a:ext cx="10728655" cy="621792"/>
          </a:xfrm>
          <a:prstGeom prst="rect">
            <a:avLst/>
          </a:prstGeom>
          <a:noFill/>
          <a:ln/>
        </p:spPr>
        <p:txBody>
          <a:bodyPr wrap="square" lIns="0" tIns="0" rIns="0" bIns="0" rtlCol="0" anchor="ctr"/>
          <a:lstStyle/>
          <a:p>
            <a:pPr indent="0" marL="0">
              <a:lnSpc>
                <a:spcPts val="2700"/>
              </a:lnSpc>
              <a:buNone/>
            </a:pPr>
            <a:r>
              <a:rPr lang="en-US" sz="1900" b="1" dirty="0">
                <a:solidFill>
                  <a:srgbClr val="000000"/>
                </a:solidFill>
                <a:latin typeface="Plus Jakarta Sans" pitchFamily="34" charset="0"/>
                <a:ea typeface="Plus Jakarta Sans" pitchFamily="34" charset="-122"/>
                <a:cs typeface="Plus Jakarta Sans" pitchFamily="34" charset="-120"/>
              </a:rPr>
              <a:t>And the uncomfortable part: the industry is fine with this. Expired points are revenue. Confusion is the business model.</a:t>
            </a:r>
            <a:endParaRPr lang="en-US" sz="1900" dirty="0"/>
          </a:p>
        </p:txBody>
      </p:sp>
      <p:sp>
        <p:nvSpPr>
          <p:cNvPr id="18" name="Shape 15"/>
          <p:cNvSpPr/>
          <p:nvPr/>
        </p:nvSpPr>
        <p:spPr>
          <a:xfrm>
            <a:off x="731520" y="4840224"/>
            <a:ext cx="10728655" cy="1339596"/>
          </a:xfrm>
          <a:prstGeom prst="roundRect">
            <a:avLst>
              <a:gd name="adj" fmla="val 4778"/>
            </a:avLst>
          </a:prstGeom>
          <a:solidFill>
            <a:srgbClr val="FFE878"/>
          </a:solidFill>
          <a:ln w="12700">
            <a:solidFill>
              <a:srgbClr val="FFE878"/>
            </a:solidFill>
            <a:prstDash val="solid"/>
          </a:ln>
        </p:spPr>
      </p:sp>
      <p:sp>
        <p:nvSpPr>
          <p:cNvPr id="19" name="Text 16"/>
          <p:cNvSpPr/>
          <p:nvPr/>
        </p:nvSpPr>
        <p:spPr>
          <a:xfrm>
            <a:off x="987552" y="4959096"/>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20" name="Text 17"/>
          <p:cNvSpPr/>
          <p:nvPr/>
        </p:nvSpPr>
        <p:spPr>
          <a:xfrm>
            <a:off x="1005840" y="5205984"/>
            <a:ext cx="10180015" cy="882396"/>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What share of points actually expire? We need a real number, not a claim.</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Do we have anything from real users — even ten conversations? Right now this is our belief, not evidence.</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If it's this obvious, why has nobody won it? Name who tried and what killed them.</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TIMING</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Why now</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06</a:t>
            </a:r>
            <a:endParaRPr lang="en-US" sz="850" dirty="0"/>
          </a:p>
        </p:txBody>
      </p:sp>
      <p:sp>
        <p:nvSpPr>
          <p:cNvPr id="7" name="Text 4"/>
          <p:cNvSpPr/>
          <p:nvPr/>
        </p:nvSpPr>
        <p:spPr>
          <a:xfrm>
            <a:off x="731520" y="1591056"/>
            <a:ext cx="548640" cy="640080"/>
          </a:xfrm>
          <a:prstGeom prst="rect">
            <a:avLst/>
          </a:prstGeom>
          <a:noFill/>
          <a:ln/>
        </p:spPr>
        <p:txBody>
          <a:bodyPr wrap="square" lIns="0" tIns="0" rIns="0" bIns="0" rtlCol="0" anchor="ctr"/>
          <a:lstStyle/>
          <a:p>
            <a:pPr indent="0" marL="0">
              <a:buNone/>
            </a:pPr>
            <a:r>
              <a:rPr lang="en-US" sz="3000" b="1" dirty="0">
                <a:solidFill>
                  <a:srgbClr val="C0ECFF"/>
                </a:solidFill>
                <a:latin typeface="Plus Jakarta Sans" pitchFamily="34" charset="0"/>
                <a:ea typeface="Plus Jakarta Sans" pitchFamily="34" charset="-122"/>
                <a:cs typeface="Plus Jakarta Sans" pitchFamily="34" charset="-120"/>
              </a:rPr>
              <a:t>1</a:t>
            </a:r>
            <a:endParaRPr lang="en-US" sz="3000" dirty="0"/>
          </a:p>
        </p:txBody>
      </p:sp>
      <p:sp>
        <p:nvSpPr>
          <p:cNvPr id="8" name="Text 5"/>
          <p:cNvSpPr/>
          <p:nvPr/>
        </p:nvSpPr>
        <p:spPr>
          <a:xfrm>
            <a:off x="1417320" y="1609344"/>
            <a:ext cx="3840480" cy="310896"/>
          </a:xfrm>
          <a:prstGeom prst="rect">
            <a:avLst/>
          </a:prstGeom>
          <a:noFill/>
          <a:ln/>
        </p:spPr>
        <p:txBody>
          <a:bodyPr wrap="square" lIns="0" tIns="0" rIns="0" bIns="0" rtlCol="0" anchor="ctr"/>
          <a:lstStyle/>
          <a:p>
            <a:pPr indent="0" marL="0">
              <a:buNone/>
            </a:pPr>
            <a:r>
              <a:rPr lang="en-US" sz="1700" b="1" dirty="0">
                <a:solidFill>
                  <a:srgbClr val="000000"/>
                </a:solidFill>
                <a:latin typeface="Plus Jakarta Sans" pitchFamily="34" charset="0"/>
                <a:ea typeface="Plus Jakarta Sans" pitchFamily="34" charset="-122"/>
                <a:cs typeface="Plus Jakarta Sans" pitchFamily="34" charset="-120"/>
              </a:rPr>
              <a:t>Programs keep multiplying</a:t>
            </a:r>
            <a:endParaRPr lang="en-US" sz="1700" dirty="0"/>
          </a:p>
        </p:txBody>
      </p:sp>
      <p:sp>
        <p:nvSpPr>
          <p:cNvPr id="9" name="Text 6"/>
          <p:cNvSpPr/>
          <p:nvPr/>
        </p:nvSpPr>
        <p:spPr>
          <a:xfrm>
            <a:off x="5394960" y="1627632"/>
            <a:ext cx="5973775" cy="548640"/>
          </a:xfrm>
          <a:prstGeom prst="rect">
            <a:avLst/>
          </a:prstGeom>
          <a:noFill/>
          <a:ln/>
        </p:spPr>
        <p:txBody>
          <a:bodyPr wrap="square" lIns="0" tIns="0" rIns="0" bIns="0" rtlCol="0" anchor="ctr"/>
          <a:lstStyle/>
          <a:p>
            <a:pPr indent="0" marL="0">
              <a:lnSpc>
                <a:spcPts val="1900"/>
              </a:lnSpc>
              <a:buNone/>
            </a:pPr>
            <a:r>
              <a:rPr lang="en-US" sz="1350" dirty="0">
                <a:solidFill>
                  <a:srgbClr val="6B6B6B"/>
                </a:solidFill>
                <a:latin typeface="Plus Jakarta Sans" pitchFamily="34" charset="0"/>
                <a:ea typeface="Plus Jakarta Sans" pitchFamily="34" charset="-122"/>
                <a:cs typeface="Plus Jakarta Sans" pitchFamily="34" charset="-120"/>
              </a:rPr>
              <a:t>Attention doesn't. The gap widens every year.</a:t>
            </a:r>
            <a:endParaRPr lang="en-US" sz="1350" dirty="0"/>
          </a:p>
        </p:txBody>
      </p:sp>
      <p:sp>
        <p:nvSpPr>
          <p:cNvPr id="10" name="Text 7"/>
          <p:cNvSpPr/>
          <p:nvPr/>
        </p:nvSpPr>
        <p:spPr>
          <a:xfrm>
            <a:off x="731520" y="2487168"/>
            <a:ext cx="548640" cy="640080"/>
          </a:xfrm>
          <a:prstGeom prst="rect">
            <a:avLst/>
          </a:prstGeom>
          <a:noFill/>
          <a:ln/>
        </p:spPr>
        <p:txBody>
          <a:bodyPr wrap="square" lIns="0" tIns="0" rIns="0" bIns="0" rtlCol="0" anchor="ctr"/>
          <a:lstStyle/>
          <a:p>
            <a:pPr indent="0" marL="0">
              <a:buNone/>
            </a:pPr>
            <a:r>
              <a:rPr lang="en-US" sz="3000" b="1" dirty="0">
                <a:solidFill>
                  <a:srgbClr val="C0ECFF"/>
                </a:solidFill>
                <a:latin typeface="Plus Jakarta Sans" pitchFamily="34" charset="0"/>
                <a:ea typeface="Plus Jakarta Sans" pitchFamily="34" charset="-122"/>
                <a:cs typeface="Plus Jakarta Sans" pitchFamily="34" charset="-120"/>
              </a:rPr>
              <a:t>2</a:t>
            </a:r>
            <a:endParaRPr lang="en-US" sz="3000" dirty="0"/>
          </a:p>
        </p:txBody>
      </p:sp>
      <p:sp>
        <p:nvSpPr>
          <p:cNvPr id="11" name="Text 8"/>
          <p:cNvSpPr/>
          <p:nvPr/>
        </p:nvSpPr>
        <p:spPr>
          <a:xfrm>
            <a:off x="1417320" y="2505456"/>
            <a:ext cx="3840480" cy="310896"/>
          </a:xfrm>
          <a:prstGeom prst="rect">
            <a:avLst/>
          </a:prstGeom>
          <a:noFill/>
          <a:ln/>
        </p:spPr>
        <p:txBody>
          <a:bodyPr wrap="square" lIns="0" tIns="0" rIns="0" bIns="0" rtlCol="0" anchor="ctr"/>
          <a:lstStyle/>
          <a:p>
            <a:pPr indent="0" marL="0">
              <a:buNone/>
            </a:pPr>
            <a:r>
              <a:rPr lang="en-US" sz="1700" b="1" dirty="0">
                <a:solidFill>
                  <a:srgbClr val="000000"/>
                </a:solidFill>
                <a:latin typeface="Plus Jakarta Sans" pitchFamily="34" charset="0"/>
                <a:ea typeface="Plus Jakarta Sans" pitchFamily="34" charset="-122"/>
                <a:cs typeface="Plus Jakarta Sans" pitchFamily="34" charset="-120"/>
              </a:rPr>
              <a:t>Data is finally reachable</a:t>
            </a:r>
            <a:endParaRPr lang="en-US" sz="1700" dirty="0"/>
          </a:p>
        </p:txBody>
      </p:sp>
      <p:sp>
        <p:nvSpPr>
          <p:cNvPr id="12" name="Text 9"/>
          <p:cNvSpPr/>
          <p:nvPr/>
        </p:nvSpPr>
        <p:spPr>
          <a:xfrm>
            <a:off x="5394960" y="2523744"/>
            <a:ext cx="5973775" cy="548640"/>
          </a:xfrm>
          <a:prstGeom prst="rect">
            <a:avLst/>
          </a:prstGeom>
          <a:noFill/>
          <a:ln/>
        </p:spPr>
        <p:txBody>
          <a:bodyPr wrap="square" lIns="0" tIns="0" rIns="0" bIns="0" rtlCol="0" anchor="ctr"/>
          <a:lstStyle/>
          <a:p>
            <a:pPr indent="0" marL="0">
              <a:lnSpc>
                <a:spcPts val="1900"/>
              </a:lnSpc>
              <a:buNone/>
            </a:pPr>
            <a:r>
              <a:rPr lang="en-US" sz="1350" dirty="0">
                <a:solidFill>
                  <a:srgbClr val="6B6B6B"/>
                </a:solidFill>
                <a:latin typeface="Plus Jakarta Sans" pitchFamily="34" charset="0"/>
                <a:ea typeface="Plus Jakarta Sans" pitchFamily="34" charset="-122"/>
                <a:cs typeface="Plus Jakarta Sans" pitchFamily="34" charset="-120"/>
              </a:rPr>
              <a:t>Brands are opening APIs. Aggregation rails have matured.</a:t>
            </a:r>
            <a:endParaRPr lang="en-US" sz="1350" dirty="0"/>
          </a:p>
        </p:txBody>
      </p:sp>
      <p:sp>
        <p:nvSpPr>
          <p:cNvPr id="13" name="Text 10"/>
          <p:cNvSpPr/>
          <p:nvPr/>
        </p:nvSpPr>
        <p:spPr>
          <a:xfrm>
            <a:off x="731520" y="3383280"/>
            <a:ext cx="548640" cy="640080"/>
          </a:xfrm>
          <a:prstGeom prst="rect">
            <a:avLst/>
          </a:prstGeom>
          <a:noFill/>
          <a:ln/>
        </p:spPr>
        <p:txBody>
          <a:bodyPr wrap="square" lIns="0" tIns="0" rIns="0" bIns="0" rtlCol="0" anchor="ctr"/>
          <a:lstStyle/>
          <a:p>
            <a:pPr indent="0" marL="0">
              <a:buNone/>
            </a:pPr>
            <a:r>
              <a:rPr lang="en-US" sz="3000" b="1" dirty="0">
                <a:solidFill>
                  <a:srgbClr val="C0ECFF"/>
                </a:solidFill>
                <a:latin typeface="Plus Jakarta Sans" pitchFamily="34" charset="0"/>
                <a:ea typeface="Plus Jakarta Sans" pitchFamily="34" charset="-122"/>
                <a:cs typeface="Plus Jakarta Sans" pitchFamily="34" charset="-120"/>
              </a:rPr>
              <a:t>3</a:t>
            </a:r>
            <a:endParaRPr lang="en-US" sz="3000" dirty="0"/>
          </a:p>
        </p:txBody>
      </p:sp>
      <p:sp>
        <p:nvSpPr>
          <p:cNvPr id="14" name="Text 11"/>
          <p:cNvSpPr/>
          <p:nvPr/>
        </p:nvSpPr>
        <p:spPr>
          <a:xfrm>
            <a:off x="1417320" y="3401568"/>
            <a:ext cx="3840480" cy="310896"/>
          </a:xfrm>
          <a:prstGeom prst="rect">
            <a:avLst/>
          </a:prstGeom>
          <a:noFill/>
          <a:ln/>
        </p:spPr>
        <p:txBody>
          <a:bodyPr wrap="square" lIns="0" tIns="0" rIns="0" bIns="0" rtlCol="0" anchor="ctr"/>
          <a:lstStyle/>
          <a:p>
            <a:pPr indent="0" marL="0">
              <a:buNone/>
            </a:pPr>
            <a:r>
              <a:rPr lang="en-US" sz="1700" b="1" dirty="0">
                <a:solidFill>
                  <a:srgbClr val="000000"/>
                </a:solidFill>
                <a:latin typeface="Plus Jakarta Sans" pitchFamily="34" charset="0"/>
                <a:ea typeface="Plus Jakarta Sans" pitchFamily="34" charset="-122"/>
                <a:cs typeface="Plus Jakarta Sans" pitchFamily="34" charset="-120"/>
              </a:rPr>
              <a:t>AI can answer the real question</a:t>
            </a:r>
            <a:endParaRPr lang="en-US" sz="1700" dirty="0"/>
          </a:p>
        </p:txBody>
      </p:sp>
      <p:sp>
        <p:nvSpPr>
          <p:cNvPr id="15" name="Text 12"/>
          <p:cNvSpPr/>
          <p:nvPr/>
        </p:nvSpPr>
        <p:spPr>
          <a:xfrm>
            <a:off x="5394960" y="3419856"/>
            <a:ext cx="5973775" cy="548640"/>
          </a:xfrm>
          <a:prstGeom prst="rect">
            <a:avLst/>
          </a:prstGeom>
          <a:noFill/>
          <a:ln/>
        </p:spPr>
        <p:txBody>
          <a:bodyPr wrap="square" lIns="0" tIns="0" rIns="0" bIns="0" rtlCol="0" anchor="ctr"/>
          <a:lstStyle/>
          <a:p>
            <a:pPr indent="0" marL="0">
              <a:lnSpc>
                <a:spcPts val="1900"/>
              </a:lnSpc>
              <a:buNone/>
            </a:pPr>
            <a:r>
              <a:rPr lang="en-US" sz="1350" dirty="0">
                <a:solidFill>
                  <a:srgbClr val="6B6B6B"/>
                </a:solidFill>
                <a:latin typeface="Plus Jakarta Sans" pitchFamily="34" charset="0"/>
                <a:ea typeface="Plus Jakarta Sans" pitchFamily="34" charset="-122"/>
                <a:cs typeface="Plus Jakarta Sans" pitchFamily="34" charset="-120"/>
              </a:rPr>
              <a:t>“What's the best way to pay for this?” wasn't answerable before.</a:t>
            </a:r>
            <a:endParaRPr lang="en-US" sz="1350" dirty="0"/>
          </a:p>
        </p:txBody>
      </p:sp>
      <p:sp>
        <p:nvSpPr>
          <p:cNvPr id="16" name="Text 13"/>
          <p:cNvSpPr/>
          <p:nvPr/>
        </p:nvSpPr>
        <p:spPr>
          <a:xfrm>
            <a:off x="731520" y="4279392"/>
            <a:ext cx="548640" cy="640080"/>
          </a:xfrm>
          <a:prstGeom prst="rect">
            <a:avLst/>
          </a:prstGeom>
          <a:noFill/>
          <a:ln/>
        </p:spPr>
        <p:txBody>
          <a:bodyPr wrap="square" lIns="0" tIns="0" rIns="0" bIns="0" rtlCol="0" anchor="ctr"/>
          <a:lstStyle/>
          <a:p>
            <a:pPr indent="0" marL="0">
              <a:buNone/>
            </a:pPr>
            <a:r>
              <a:rPr lang="en-US" sz="3000" b="1" dirty="0">
                <a:solidFill>
                  <a:srgbClr val="C0ECFF"/>
                </a:solidFill>
                <a:latin typeface="Plus Jakarta Sans" pitchFamily="34" charset="0"/>
                <a:ea typeface="Plus Jakarta Sans" pitchFamily="34" charset="-122"/>
                <a:cs typeface="Plus Jakarta Sans" pitchFamily="34" charset="-120"/>
              </a:rPr>
              <a:t>4</a:t>
            </a:r>
            <a:endParaRPr lang="en-US" sz="3000" dirty="0"/>
          </a:p>
        </p:txBody>
      </p:sp>
      <p:sp>
        <p:nvSpPr>
          <p:cNvPr id="17" name="Text 14"/>
          <p:cNvSpPr/>
          <p:nvPr/>
        </p:nvSpPr>
        <p:spPr>
          <a:xfrm>
            <a:off x="1417320" y="4297680"/>
            <a:ext cx="3840480" cy="310896"/>
          </a:xfrm>
          <a:prstGeom prst="rect">
            <a:avLst/>
          </a:prstGeom>
          <a:noFill/>
          <a:ln/>
        </p:spPr>
        <p:txBody>
          <a:bodyPr wrap="square" lIns="0" tIns="0" rIns="0" bIns="0" rtlCol="0" anchor="ctr"/>
          <a:lstStyle/>
          <a:p>
            <a:pPr indent="0" marL="0">
              <a:buNone/>
            </a:pPr>
            <a:r>
              <a:rPr lang="en-US" sz="1700" b="1" dirty="0">
                <a:solidFill>
                  <a:srgbClr val="000000"/>
                </a:solidFill>
                <a:latin typeface="Plus Jakarta Sans" pitchFamily="34" charset="0"/>
                <a:ea typeface="Plus Jakarta Sans" pitchFamily="34" charset="-122"/>
                <a:cs typeface="Plus Jakarta Sans" pitchFamily="34" charset="-120"/>
              </a:rPr>
              <a:t>Reward budgets are squeezed</a:t>
            </a:r>
            <a:endParaRPr lang="en-US" sz="1700" dirty="0"/>
          </a:p>
        </p:txBody>
      </p:sp>
      <p:sp>
        <p:nvSpPr>
          <p:cNvPr id="18" name="Text 15"/>
          <p:cNvSpPr/>
          <p:nvPr/>
        </p:nvSpPr>
        <p:spPr>
          <a:xfrm>
            <a:off x="5394960" y="4315968"/>
            <a:ext cx="5973775" cy="548640"/>
          </a:xfrm>
          <a:prstGeom prst="rect">
            <a:avLst/>
          </a:prstGeom>
          <a:noFill/>
          <a:ln/>
        </p:spPr>
        <p:txBody>
          <a:bodyPr wrap="square" lIns="0" tIns="0" rIns="0" bIns="0" rtlCol="0" anchor="ctr"/>
          <a:lstStyle/>
          <a:p>
            <a:pPr indent="0" marL="0">
              <a:lnSpc>
                <a:spcPts val="1900"/>
              </a:lnSpc>
              <a:buNone/>
            </a:pPr>
            <a:r>
              <a:rPr lang="en-US" sz="1350" dirty="0">
                <a:solidFill>
                  <a:srgbClr val="6B6B6B"/>
                </a:solidFill>
                <a:latin typeface="Plus Jakarta Sans" pitchFamily="34" charset="0"/>
                <a:ea typeface="Plus Jakarta Sans" pitchFamily="34" charset="-122"/>
                <a:cs typeface="Plus Jakarta Sans" pitchFamily="34" charset="-120"/>
              </a:rPr>
              <a:t>Margin pressure on the brand side creates a buyer.</a:t>
            </a:r>
            <a:endParaRPr lang="en-US" sz="1350" dirty="0"/>
          </a:p>
        </p:txBody>
      </p:sp>
      <p:sp>
        <p:nvSpPr>
          <p:cNvPr id="19" name="Shape 16"/>
          <p:cNvSpPr/>
          <p:nvPr/>
        </p:nvSpPr>
        <p:spPr>
          <a:xfrm>
            <a:off x="731520" y="5294376"/>
            <a:ext cx="10728655" cy="978408"/>
          </a:xfrm>
          <a:prstGeom prst="roundRect">
            <a:avLst>
              <a:gd name="adj" fmla="val 6542"/>
            </a:avLst>
          </a:prstGeom>
          <a:solidFill>
            <a:srgbClr val="FFE878"/>
          </a:solidFill>
          <a:ln w="12700">
            <a:solidFill>
              <a:srgbClr val="FFE878"/>
            </a:solidFill>
            <a:prstDash val="solid"/>
          </a:ln>
        </p:spPr>
      </p:sp>
      <p:sp>
        <p:nvSpPr>
          <p:cNvPr id="20" name="Text 17"/>
          <p:cNvSpPr/>
          <p:nvPr/>
        </p:nvSpPr>
        <p:spPr>
          <a:xfrm>
            <a:off x="987552" y="5413248"/>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21" name="Text 18"/>
          <p:cNvSpPr/>
          <p:nvPr/>
        </p:nvSpPr>
        <p:spPr>
          <a:xfrm>
            <a:off x="1005840" y="5660136"/>
            <a:ext cx="10180015" cy="521208"/>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Which of these four is genuinely new, and which are we saying because it sounds like a good “why now”? An investor will pick the weakest one and push on 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WHAT WE'RE BUILDING</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One app. Four jobs.</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07</a:t>
            </a:r>
            <a:endParaRPr lang="en-US" sz="850" dirty="0"/>
          </a:p>
        </p:txBody>
      </p:sp>
      <p:sp>
        <p:nvSpPr>
          <p:cNvPr id="7" name="Shape 4"/>
          <p:cNvSpPr/>
          <p:nvPr/>
        </p:nvSpPr>
        <p:spPr>
          <a:xfrm>
            <a:off x="731520" y="1545336"/>
            <a:ext cx="10728655" cy="786384"/>
          </a:xfrm>
          <a:prstGeom prst="roundRect">
            <a:avLst>
              <a:gd name="adj" fmla="val 8140"/>
            </a:avLst>
          </a:prstGeom>
          <a:solidFill>
            <a:srgbClr val="F7F3F9"/>
          </a:solidFill>
          <a:ln w="9525">
            <a:solidFill>
              <a:srgbClr val="D8D2DC"/>
            </a:solidFill>
            <a:prstDash val="solid"/>
          </a:ln>
        </p:spPr>
      </p:sp>
      <p:sp>
        <p:nvSpPr>
          <p:cNvPr id="8" name="Text 5"/>
          <p:cNvSpPr/>
          <p:nvPr/>
        </p:nvSpPr>
        <p:spPr>
          <a:xfrm>
            <a:off x="1005840" y="1545336"/>
            <a:ext cx="1737360" cy="786384"/>
          </a:xfrm>
          <a:prstGeom prst="rect">
            <a:avLst/>
          </a:prstGeom>
          <a:noFill/>
          <a:ln/>
        </p:spPr>
        <p:txBody>
          <a:bodyPr wrap="square" lIns="0" tIns="0" rIns="0" bIns="0" rtlCol="0" anchor="ctr"/>
          <a:lstStyle/>
          <a:p>
            <a:pPr indent="0" marL="0">
              <a:buNone/>
            </a:pPr>
            <a:r>
              <a:rPr lang="en-US" sz="2000" b="1" dirty="0">
                <a:solidFill>
                  <a:srgbClr val="3F0059"/>
                </a:solidFill>
                <a:latin typeface="Plus Jakarta Sans" pitchFamily="34" charset="0"/>
                <a:ea typeface="Plus Jakarta Sans" pitchFamily="34" charset="-122"/>
                <a:cs typeface="Plus Jakarta Sans" pitchFamily="34" charset="-120"/>
              </a:rPr>
              <a:t>See</a:t>
            </a:r>
            <a:endParaRPr lang="en-US" sz="2000" dirty="0"/>
          </a:p>
        </p:txBody>
      </p:sp>
      <p:sp>
        <p:nvSpPr>
          <p:cNvPr id="9" name="Text 6"/>
          <p:cNvSpPr/>
          <p:nvPr/>
        </p:nvSpPr>
        <p:spPr>
          <a:xfrm>
            <a:off x="2834640" y="1545336"/>
            <a:ext cx="8259775" cy="786384"/>
          </a:xfrm>
          <a:prstGeom prst="rect">
            <a:avLst/>
          </a:prstGeom>
          <a:noFill/>
          <a:ln/>
        </p:spPr>
        <p:txBody>
          <a:bodyPr wrap="square" lIns="0" tIns="0" rIns="0" bIns="0" rtlCol="0" anchor="ctr"/>
          <a:lstStyle/>
          <a:p>
            <a:pPr indent="0" marL="0">
              <a:buNone/>
            </a:pPr>
            <a:r>
              <a:rPr lang="en-US" sz="1400" dirty="0">
                <a:solidFill>
                  <a:srgbClr val="000000"/>
                </a:solidFill>
                <a:latin typeface="Plus Jakarta Sans" pitchFamily="34" charset="0"/>
                <a:ea typeface="Plus Jakarta Sans" pitchFamily="34" charset="-122"/>
                <a:cs typeface="Plus Jakarta Sans" pitchFamily="34" charset="-120"/>
              </a:rPr>
              <a:t>Every program, one balance</a:t>
            </a:r>
            <a:endParaRPr lang="en-US" sz="1400" dirty="0"/>
          </a:p>
        </p:txBody>
      </p:sp>
      <p:sp>
        <p:nvSpPr>
          <p:cNvPr id="10" name="Shape 7"/>
          <p:cNvSpPr/>
          <p:nvPr/>
        </p:nvSpPr>
        <p:spPr>
          <a:xfrm>
            <a:off x="731520" y="2459736"/>
            <a:ext cx="10728655" cy="786384"/>
          </a:xfrm>
          <a:prstGeom prst="roundRect">
            <a:avLst>
              <a:gd name="adj" fmla="val 8140"/>
            </a:avLst>
          </a:prstGeom>
          <a:solidFill>
            <a:srgbClr val="F7F3F9"/>
          </a:solidFill>
          <a:ln w="9525">
            <a:solidFill>
              <a:srgbClr val="D8D2DC"/>
            </a:solidFill>
            <a:prstDash val="solid"/>
          </a:ln>
        </p:spPr>
      </p:sp>
      <p:sp>
        <p:nvSpPr>
          <p:cNvPr id="11" name="Text 8"/>
          <p:cNvSpPr/>
          <p:nvPr/>
        </p:nvSpPr>
        <p:spPr>
          <a:xfrm>
            <a:off x="1005840" y="2459736"/>
            <a:ext cx="1737360" cy="786384"/>
          </a:xfrm>
          <a:prstGeom prst="rect">
            <a:avLst/>
          </a:prstGeom>
          <a:noFill/>
          <a:ln/>
        </p:spPr>
        <p:txBody>
          <a:bodyPr wrap="square" lIns="0" tIns="0" rIns="0" bIns="0" rtlCol="0" anchor="ctr"/>
          <a:lstStyle/>
          <a:p>
            <a:pPr indent="0" marL="0">
              <a:buNone/>
            </a:pPr>
            <a:r>
              <a:rPr lang="en-US" sz="2000" b="1" dirty="0">
                <a:solidFill>
                  <a:srgbClr val="3F0059"/>
                </a:solidFill>
                <a:latin typeface="Plus Jakarta Sans" pitchFamily="34" charset="0"/>
                <a:ea typeface="Plus Jakarta Sans" pitchFamily="34" charset="-122"/>
                <a:cs typeface="Plus Jakarta Sans" pitchFamily="34" charset="-120"/>
              </a:rPr>
              <a:t>Protect</a:t>
            </a:r>
            <a:endParaRPr lang="en-US" sz="2000" dirty="0"/>
          </a:p>
        </p:txBody>
      </p:sp>
      <p:sp>
        <p:nvSpPr>
          <p:cNvPr id="12" name="Text 9"/>
          <p:cNvSpPr/>
          <p:nvPr/>
        </p:nvSpPr>
        <p:spPr>
          <a:xfrm>
            <a:off x="2834640" y="2459736"/>
            <a:ext cx="8259775" cy="786384"/>
          </a:xfrm>
          <a:prstGeom prst="rect">
            <a:avLst/>
          </a:prstGeom>
          <a:noFill/>
          <a:ln/>
        </p:spPr>
        <p:txBody>
          <a:bodyPr wrap="square" lIns="0" tIns="0" rIns="0" bIns="0" rtlCol="0" anchor="ctr"/>
          <a:lstStyle/>
          <a:p>
            <a:pPr indent="0" marL="0">
              <a:buNone/>
            </a:pPr>
            <a:r>
              <a:rPr lang="en-US" sz="1400" dirty="0">
                <a:solidFill>
                  <a:srgbClr val="000000"/>
                </a:solidFill>
                <a:latin typeface="Plus Jakarta Sans" pitchFamily="34" charset="0"/>
                <a:ea typeface="Plus Jakarta Sans" pitchFamily="34" charset="-122"/>
                <a:cs typeface="Plus Jakarta Sans" pitchFamily="34" charset="-120"/>
              </a:rPr>
              <a:t>Warn before points expire</a:t>
            </a:r>
            <a:endParaRPr lang="en-US" sz="1400" dirty="0"/>
          </a:p>
        </p:txBody>
      </p:sp>
      <p:sp>
        <p:nvSpPr>
          <p:cNvPr id="13" name="Shape 10"/>
          <p:cNvSpPr/>
          <p:nvPr/>
        </p:nvSpPr>
        <p:spPr>
          <a:xfrm>
            <a:off x="731520" y="3374136"/>
            <a:ext cx="10728655" cy="786384"/>
          </a:xfrm>
          <a:prstGeom prst="roundRect">
            <a:avLst>
              <a:gd name="adj" fmla="val 8140"/>
            </a:avLst>
          </a:prstGeom>
          <a:solidFill>
            <a:srgbClr val="3F0059"/>
          </a:solidFill>
          <a:ln w="9525">
            <a:solidFill>
              <a:srgbClr val="3F0059"/>
            </a:solidFill>
            <a:prstDash val="solid"/>
          </a:ln>
        </p:spPr>
      </p:sp>
      <p:sp>
        <p:nvSpPr>
          <p:cNvPr id="14" name="Text 11"/>
          <p:cNvSpPr/>
          <p:nvPr/>
        </p:nvSpPr>
        <p:spPr>
          <a:xfrm>
            <a:off x="1005840" y="3374136"/>
            <a:ext cx="1737360" cy="786384"/>
          </a:xfrm>
          <a:prstGeom prst="rect">
            <a:avLst/>
          </a:prstGeom>
          <a:noFill/>
          <a:ln/>
        </p:spPr>
        <p:txBody>
          <a:bodyPr wrap="square" lIns="0" tIns="0" rIns="0" bIns="0" rtlCol="0" anchor="ctr"/>
          <a:lstStyle/>
          <a:p>
            <a:pPr indent="0" marL="0">
              <a:buNone/>
            </a:pPr>
            <a:r>
              <a:rPr lang="en-US" sz="2000" b="1" dirty="0">
                <a:solidFill>
                  <a:srgbClr val="02EFF4"/>
                </a:solidFill>
                <a:latin typeface="Plus Jakarta Sans" pitchFamily="34" charset="0"/>
                <a:ea typeface="Plus Jakarta Sans" pitchFamily="34" charset="-122"/>
                <a:cs typeface="Plus Jakarta Sans" pitchFamily="34" charset="-120"/>
              </a:rPr>
              <a:t>Decide</a:t>
            </a:r>
            <a:endParaRPr lang="en-US" sz="2000" dirty="0"/>
          </a:p>
        </p:txBody>
      </p:sp>
      <p:sp>
        <p:nvSpPr>
          <p:cNvPr id="15" name="Text 12"/>
          <p:cNvSpPr/>
          <p:nvPr/>
        </p:nvSpPr>
        <p:spPr>
          <a:xfrm>
            <a:off x="2834640" y="3374136"/>
            <a:ext cx="8259775" cy="786384"/>
          </a:xfrm>
          <a:prstGeom prst="rect">
            <a:avLst/>
          </a:prstGeom>
          <a:noFill/>
          <a:ln/>
        </p:spPr>
        <p:txBody>
          <a:bodyPr wrap="square" lIns="0" tIns="0" rIns="0" bIns="0" rtlCol="0" anchor="ctr"/>
          <a:lstStyle/>
          <a:p>
            <a:pPr indent="0" marL="0">
              <a:buNone/>
            </a:pPr>
            <a:r>
              <a:rPr lang="en-US" sz="1400" dirty="0">
                <a:solidFill>
                  <a:srgbClr val="FFFFFF"/>
                </a:solidFill>
                <a:latin typeface="Plus Jakarta Sans" pitchFamily="34" charset="0"/>
                <a:ea typeface="Plus Jakarta Sans" pitchFamily="34" charset="-122"/>
                <a:cs typeface="Plus Jakarta Sans" pitchFamily="34" charset="-120"/>
              </a:rPr>
              <a:t>Which card, offer and reward gives the most value on this purchase</a:t>
            </a:r>
            <a:endParaRPr lang="en-US" sz="1400" dirty="0"/>
          </a:p>
        </p:txBody>
      </p:sp>
      <p:sp>
        <p:nvSpPr>
          <p:cNvPr id="16" name="Shape 13"/>
          <p:cNvSpPr/>
          <p:nvPr/>
        </p:nvSpPr>
        <p:spPr>
          <a:xfrm>
            <a:off x="731520" y="4288536"/>
            <a:ext cx="10728655" cy="786384"/>
          </a:xfrm>
          <a:prstGeom prst="roundRect">
            <a:avLst>
              <a:gd name="adj" fmla="val 8140"/>
            </a:avLst>
          </a:prstGeom>
          <a:solidFill>
            <a:srgbClr val="F7F3F9"/>
          </a:solidFill>
          <a:ln w="9525">
            <a:solidFill>
              <a:srgbClr val="D8D2DC"/>
            </a:solidFill>
            <a:prstDash val="solid"/>
          </a:ln>
        </p:spPr>
      </p:sp>
      <p:sp>
        <p:nvSpPr>
          <p:cNvPr id="17" name="Text 14"/>
          <p:cNvSpPr/>
          <p:nvPr/>
        </p:nvSpPr>
        <p:spPr>
          <a:xfrm>
            <a:off x="1005840" y="4288536"/>
            <a:ext cx="1737360" cy="786384"/>
          </a:xfrm>
          <a:prstGeom prst="rect">
            <a:avLst/>
          </a:prstGeom>
          <a:noFill/>
          <a:ln/>
        </p:spPr>
        <p:txBody>
          <a:bodyPr wrap="square" lIns="0" tIns="0" rIns="0" bIns="0" rtlCol="0" anchor="ctr"/>
          <a:lstStyle/>
          <a:p>
            <a:pPr indent="0" marL="0">
              <a:buNone/>
            </a:pPr>
            <a:r>
              <a:rPr lang="en-US" sz="2000" b="1" dirty="0">
                <a:solidFill>
                  <a:srgbClr val="3F0059"/>
                </a:solidFill>
                <a:latin typeface="Plus Jakarta Sans" pitchFamily="34" charset="0"/>
                <a:ea typeface="Plus Jakarta Sans" pitchFamily="34" charset="-122"/>
                <a:cs typeface="Plus Jakarta Sans" pitchFamily="34" charset="-120"/>
              </a:rPr>
              <a:t>Use</a:t>
            </a:r>
            <a:endParaRPr lang="en-US" sz="2000" dirty="0"/>
          </a:p>
        </p:txBody>
      </p:sp>
      <p:sp>
        <p:nvSpPr>
          <p:cNvPr id="18" name="Text 15"/>
          <p:cNvSpPr/>
          <p:nvPr/>
        </p:nvSpPr>
        <p:spPr>
          <a:xfrm>
            <a:off x="2834640" y="4288536"/>
            <a:ext cx="8259775" cy="786384"/>
          </a:xfrm>
          <a:prstGeom prst="rect">
            <a:avLst/>
          </a:prstGeom>
          <a:noFill/>
          <a:ln/>
        </p:spPr>
        <p:txBody>
          <a:bodyPr wrap="square" lIns="0" tIns="0" rIns="0" bIns="0" rtlCol="0" anchor="ctr"/>
          <a:lstStyle/>
          <a:p>
            <a:pPr indent="0" marL="0">
              <a:buNone/>
            </a:pPr>
            <a:r>
              <a:rPr lang="en-US" sz="1400" dirty="0">
                <a:solidFill>
                  <a:srgbClr val="000000"/>
                </a:solidFill>
                <a:latin typeface="Plus Jakarta Sans" pitchFamily="34" charset="0"/>
                <a:ea typeface="Plus Jakarta Sans" pitchFamily="34" charset="-122"/>
                <a:cs typeface="Plus Jakarta Sans" pitchFamily="34" charset="-120"/>
              </a:rPr>
              <a:t>Get the value out</a:t>
            </a:r>
            <a:endParaRPr lang="en-US" sz="1400" dirty="0"/>
          </a:p>
        </p:txBody>
      </p:sp>
      <p:sp>
        <p:nvSpPr>
          <p:cNvPr id="19" name="Text 16"/>
          <p:cNvSpPr/>
          <p:nvPr/>
        </p:nvSpPr>
        <p:spPr>
          <a:xfrm>
            <a:off x="731520" y="5248656"/>
            <a:ext cx="10728655" cy="329184"/>
          </a:xfrm>
          <a:prstGeom prst="rect">
            <a:avLst/>
          </a:prstGeom>
          <a:noFill/>
          <a:ln/>
        </p:spPr>
        <p:txBody>
          <a:bodyPr wrap="square" lIns="0" tIns="0" rIns="0" bIns="0" rtlCol="0" anchor="ctr"/>
          <a:lstStyle/>
          <a:p>
            <a:pPr indent="0" marL="0">
              <a:buNone/>
            </a:pPr>
            <a:r>
              <a:rPr lang="en-US" sz="1500" b="1" dirty="0">
                <a:solidFill>
                  <a:srgbClr val="000000"/>
                </a:solidFill>
                <a:latin typeface="Plus Jakarta Sans" pitchFamily="34" charset="0"/>
                <a:ea typeface="Plus Jakarta Sans" pitchFamily="34" charset="-122"/>
                <a:cs typeface="Plus Jakarta Sans" pitchFamily="34" charset="-120"/>
              </a:rPr>
              <a:t>The MVP does See and Protect today. Decide is where the real product is.</a:t>
            </a:r>
            <a:endParaRPr lang="en-US" sz="1500" dirty="0"/>
          </a:p>
        </p:txBody>
      </p:sp>
      <p:sp>
        <p:nvSpPr>
          <p:cNvPr id="20" name="Shape 17"/>
          <p:cNvSpPr/>
          <p:nvPr/>
        </p:nvSpPr>
        <p:spPr>
          <a:xfrm>
            <a:off x="731520" y="5669280"/>
            <a:ext cx="10728655" cy="1266444"/>
          </a:xfrm>
          <a:prstGeom prst="roundRect">
            <a:avLst>
              <a:gd name="adj" fmla="val 5054"/>
            </a:avLst>
          </a:prstGeom>
          <a:solidFill>
            <a:srgbClr val="FFE878"/>
          </a:solidFill>
          <a:ln w="12700">
            <a:solidFill>
              <a:srgbClr val="FFE878"/>
            </a:solidFill>
            <a:prstDash val="solid"/>
          </a:ln>
        </p:spPr>
      </p:sp>
      <p:sp>
        <p:nvSpPr>
          <p:cNvPr id="21" name="Text 18"/>
          <p:cNvSpPr/>
          <p:nvPr/>
        </p:nvSpPr>
        <p:spPr>
          <a:xfrm>
            <a:off x="987552" y="5788152"/>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22" name="Text 19"/>
          <p:cNvSpPr/>
          <p:nvPr/>
        </p:nvSpPr>
        <p:spPr>
          <a:xfrm>
            <a:off x="1005840" y="6035040"/>
            <a:ext cx="10180015" cy="809244"/>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Which one is the headline? Only one can be. See and Protect make a dashboard — and dashboards get opened three times and abandoned. Decide is a behaviour.</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What's honestly built versus mocked right now?</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HOW IT WORKS</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From inbox today to brand APIs tomorrow</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08</a:t>
            </a:r>
            <a:endParaRPr lang="en-US" sz="850" dirty="0"/>
          </a:p>
        </p:txBody>
      </p:sp>
      <p:sp>
        <p:nvSpPr>
          <p:cNvPr id="7" name="Shape 4"/>
          <p:cNvSpPr/>
          <p:nvPr/>
        </p:nvSpPr>
        <p:spPr>
          <a:xfrm>
            <a:off x="731520" y="1499616"/>
            <a:ext cx="5394960" cy="1371600"/>
          </a:xfrm>
          <a:prstGeom prst="roundRect">
            <a:avLst>
              <a:gd name="adj" fmla="val 5333"/>
            </a:avLst>
          </a:prstGeom>
          <a:solidFill>
            <a:srgbClr val="F7F3F9"/>
          </a:solidFill>
          <a:ln w="9525">
            <a:solidFill>
              <a:srgbClr val="D8D2DC"/>
            </a:solidFill>
            <a:prstDash val="solid"/>
          </a:ln>
        </p:spPr>
      </p:sp>
      <p:sp>
        <p:nvSpPr>
          <p:cNvPr id="8" name="Text 5"/>
          <p:cNvSpPr/>
          <p:nvPr/>
        </p:nvSpPr>
        <p:spPr>
          <a:xfrm>
            <a:off x="1005840" y="1682496"/>
            <a:ext cx="2743200" cy="237744"/>
          </a:xfrm>
          <a:prstGeom prst="rect">
            <a:avLst/>
          </a:prstGeom>
          <a:noFill/>
          <a:ln/>
        </p:spPr>
        <p:txBody>
          <a:bodyPr wrap="square" lIns="0" tIns="0" rIns="0" bIns="0" rtlCol="0" anchor="ctr"/>
          <a:lstStyle/>
          <a:p>
            <a:pPr indent="0" marL="0">
              <a:buNone/>
            </a:pPr>
            <a:r>
              <a:rPr lang="en-US" sz="1000" b="1" spc="150" kern="0" dirty="0">
                <a:solidFill>
                  <a:srgbClr val="6B6B6B"/>
                </a:solidFill>
                <a:latin typeface="Plus Jakarta Sans" pitchFamily="34" charset="0"/>
                <a:ea typeface="Plus Jakarta Sans" pitchFamily="34" charset="-122"/>
                <a:cs typeface="Plus Jakarta Sans" pitchFamily="34" charset="-120"/>
              </a:rPr>
              <a:t>TODAY</a:t>
            </a:r>
            <a:endParaRPr lang="en-US" sz="1000" dirty="0"/>
          </a:p>
        </p:txBody>
      </p:sp>
      <p:sp>
        <p:nvSpPr>
          <p:cNvPr id="9" name="Text 6"/>
          <p:cNvSpPr/>
          <p:nvPr/>
        </p:nvSpPr>
        <p:spPr>
          <a:xfrm>
            <a:off x="1005840" y="1993392"/>
            <a:ext cx="4846320" cy="731520"/>
          </a:xfrm>
          <a:prstGeom prst="rect">
            <a:avLst/>
          </a:prstGeom>
          <a:noFill/>
          <a:ln/>
        </p:spPr>
        <p:txBody>
          <a:bodyPr wrap="square" lIns="0" tIns="0" rIns="0" bIns="0" rtlCol="0" anchor="ctr"/>
          <a:lstStyle/>
          <a:p>
            <a:pPr indent="0" marL="0">
              <a:lnSpc>
                <a:spcPts val="1900"/>
              </a:lnSpc>
              <a:buNone/>
            </a:pPr>
            <a:r>
              <a:rPr lang="en-US" sz="1350" dirty="0">
                <a:solidFill>
                  <a:srgbClr val="000000"/>
                </a:solidFill>
                <a:latin typeface="Plus Jakarta Sans" pitchFamily="34" charset="0"/>
                <a:ea typeface="Plus Jakarta Sans" pitchFamily="34" charset="-122"/>
                <a:cs typeface="Plus Jakarta Sans" pitchFamily="34" charset="-120"/>
              </a:rPr>
              <a:t>We scan your inbox, read the loyalty statements, and build your wallet automatically. No manual entry.</a:t>
            </a:r>
            <a:endParaRPr lang="en-US" sz="1350" dirty="0"/>
          </a:p>
        </p:txBody>
      </p:sp>
      <p:sp>
        <p:nvSpPr>
          <p:cNvPr id="10" name="Shape 7"/>
          <p:cNvSpPr/>
          <p:nvPr/>
        </p:nvSpPr>
        <p:spPr>
          <a:xfrm>
            <a:off x="6492240" y="1499616"/>
            <a:ext cx="4937760" cy="1371600"/>
          </a:xfrm>
          <a:prstGeom prst="roundRect">
            <a:avLst>
              <a:gd name="adj" fmla="val 5333"/>
            </a:avLst>
          </a:prstGeom>
          <a:solidFill>
            <a:srgbClr val="3F0059"/>
          </a:solidFill>
          <a:ln w="12700">
            <a:solidFill>
              <a:srgbClr val="3F0059"/>
            </a:solidFill>
            <a:prstDash val="solid"/>
          </a:ln>
        </p:spPr>
      </p:sp>
      <p:sp>
        <p:nvSpPr>
          <p:cNvPr id="11" name="Text 8"/>
          <p:cNvSpPr/>
          <p:nvPr/>
        </p:nvSpPr>
        <p:spPr>
          <a:xfrm>
            <a:off x="6766560" y="1682496"/>
            <a:ext cx="3657600" cy="237744"/>
          </a:xfrm>
          <a:prstGeom prst="rect">
            <a:avLst/>
          </a:prstGeom>
          <a:noFill/>
          <a:ln/>
        </p:spPr>
        <p:txBody>
          <a:bodyPr wrap="square" lIns="0" tIns="0" rIns="0" bIns="0" rtlCol="0" anchor="ctr"/>
          <a:lstStyle/>
          <a:p>
            <a:pPr indent="0" marL="0">
              <a:buNone/>
            </a:pPr>
            <a:r>
              <a:rPr lang="en-US" sz="1000" b="1" spc="150" kern="0" dirty="0">
                <a:solidFill>
                  <a:srgbClr val="02EFF4"/>
                </a:solidFill>
                <a:latin typeface="Plus Jakarta Sans" pitchFamily="34" charset="0"/>
                <a:ea typeface="Plus Jakarta Sans" pitchFamily="34" charset="-122"/>
                <a:cs typeface="Plus Jakarta Sans" pitchFamily="34" charset="-120"/>
              </a:rPr>
              <a:t>WHERE WE'RE GOING</a:t>
            </a:r>
            <a:endParaRPr lang="en-US" sz="1000" dirty="0"/>
          </a:p>
        </p:txBody>
      </p:sp>
      <p:sp>
        <p:nvSpPr>
          <p:cNvPr id="12" name="Text 9"/>
          <p:cNvSpPr/>
          <p:nvPr/>
        </p:nvSpPr>
        <p:spPr>
          <a:xfrm>
            <a:off x="6766560" y="1993392"/>
            <a:ext cx="4389120" cy="731520"/>
          </a:xfrm>
          <a:prstGeom prst="rect">
            <a:avLst/>
          </a:prstGeom>
          <a:noFill/>
          <a:ln/>
        </p:spPr>
        <p:txBody>
          <a:bodyPr wrap="square" lIns="0" tIns="0" rIns="0" bIns="0" rtlCol="0" anchor="ctr"/>
          <a:lstStyle/>
          <a:p>
            <a:pPr indent="0" marL="0">
              <a:lnSpc>
                <a:spcPts val="2100"/>
              </a:lnSpc>
              <a:buNone/>
            </a:pPr>
            <a:r>
              <a:rPr lang="en-US" sz="1500" b="1" dirty="0">
                <a:solidFill>
                  <a:srgbClr val="FFFFFF"/>
                </a:solidFill>
                <a:latin typeface="Plus Jakarta Sans" pitchFamily="34" charset="0"/>
                <a:ea typeface="Plus Jakarta Sans" pitchFamily="34" charset="-122"/>
                <a:cs typeface="Plus Jakarta Sans" pitchFamily="34" charset="-120"/>
              </a:rPr>
              <a:t>Direct API integration with brands — top 50 in India, then global.</a:t>
            </a:r>
            <a:endParaRPr lang="en-US" sz="1500" dirty="0"/>
          </a:p>
        </p:txBody>
      </p:sp>
      <p:sp>
        <p:nvSpPr>
          <p:cNvPr id="13" name="Text 10"/>
          <p:cNvSpPr/>
          <p:nvPr/>
        </p:nvSpPr>
        <p:spPr>
          <a:xfrm>
            <a:off x="731520" y="3127248"/>
            <a:ext cx="10728655" cy="325120"/>
          </a:xfrm>
          <a:prstGeom prst="rect">
            <a:avLst/>
          </a:prstGeom>
          <a:noFill/>
          <a:ln/>
        </p:spPr>
        <p:txBody>
          <a:bodyPr wrap="square" lIns="0" tIns="0" rIns="0" bIns="0" rtlCol="0" anchor="ctr"/>
          <a:lstStyle/>
          <a:p>
            <a:pPr indent="0" marL="0">
              <a:lnSpc>
                <a:spcPts val="2320"/>
              </a:lnSpc>
              <a:buNone/>
            </a:pPr>
            <a:r>
              <a:rPr lang="en-US" sz="1600" dirty="0">
                <a:solidFill>
                  <a:srgbClr val="000000"/>
                </a:solidFill>
                <a:latin typeface="Plus Jakarta Sans" pitchFamily="34" charset="0"/>
                <a:ea typeface="Plus Jakarta Sans" pitchFamily="34" charset="-122"/>
                <a:cs typeface="Plus Jakarta Sans" pitchFamily="34" charset="-120"/>
              </a:rPr>
              <a:t>Email scanning is a demo mechanism. APIs are the destination. The gap between them is the whole business risk.</a:t>
            </a:r>
            <a:endParaRPr lang="en-US" sz="1600" dirty="0"/>
          </a:p>
        </p:txBody>
      </p:sp>
      <p:sp>
        <p:nvSpPr>
          <p:cNvPr id="14" name="Shape 11"/>
          <p:cNvSpPr/>
          <p:nvPr/>
        </p:nvSpPr>
        <p:spPr>
          <a:xfrm>
            <a:off x="731520" y="3635248"/>
            <a:ext cx="10728655" cy="1842516"/>
          </a:xfrm>
          <a:prstGeom prst="roundRect">
            <a:avLst>
              <a:gd name="adj" fmla="val 3474"/>
            </a:avLst>
          </a:prstGeom>
          <a:solidFill>
            <a:srgbClr val="FFE878"/>
          </a:solidFill>
          <a:ln w="12700">
            <a:solidFill>
              <a:srgbClr val="FFE878"/>
            </a:solidFill>
            <a:prstDash val="solid"/>
          </a:ln>
        </p:spPr>
      </p:sp>
      <p:sp>
        <p:nvSpPr>
          <p:cNvPr id="15" name="Text 12"/>
          <p:cNvSpPr/>
          <p:nvPr/>
        </p:nvSpPr>
        <p:spPr>
          <a:xfrm>
            <a:off x="987552" y="3754120"/>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6" name="Text 13"/>
          <p:cNvSpPr/>
          <p:nvPr/>
        </p:nvSpPr>
        <p:spPr>
          <a:xfrm>
            <a:off x="1005840" y="4001008"/>
            <a:ext cx="10180015" cy="1385316"/>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Brands give API access to platforms with users. We have no users. What do we offer brand number one?</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Realistic integration rate — two a quarter, or ten?</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Coverage: what share of a typical user's points sits inside the top 50 Indian programs? At 80% this works. At 40% the wallet looks empty and the product fails on day one.</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Does “global too” mean now or later? Both at three people means neither.</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CUSTOMER</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Who we serve first</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09</a:t>
            </a:r>
            <a:endParaRPr lang="en-US" sz="850" dirty="0"/>
          </a:p>
        </p:txBody>
      </p:sp>
      <p:sp>
        <p:nvSpPr>
          <p:cNvPr id="7" name="Shape 4"/>
          <p:cNvSpPr/>
          <p:nvPr/>
        </p:nvSpPr>
        <p:spPr>
          <a:xfrm>
            <a:off x="731520" y="1499616"/>
            <a:ext cx="10728655" cy="1234440"/>
          </a:xfrm>
          <a:prstGeom prst="roundRect">
            <a:avLst>
              <a:gd name="adj" fmla="val 5926"/>
            </a:avLst>
          </a:prstGeom>
          <a:solidFill>
            <a:srgbClr val="C0ECFF"/>
          </a:solidFill>
          <a:ln w="12700">
            <a:solidFill>
              <a:srgbClr val="C0ECFF"/>
            </a:solidFill>
            <a:prstDash val="solid"/>
          </a:ln>
        </p:spPr>
      </p:sp>
      <p:sp>
        <p:nvSpPr>
          <p:cNvPr id="8" name="Text 5"/>
          <p:cNvSpPr/>
          <p:nvPr/>
        </p:nvSpPr>
        <p:spPr>
          <a:xfrm>
            <a:off x="1060704" y="1682496"/>
            <a:ext cx="10070287" cy="868680"/>
          </a:xfrm>
          <a:prstGeom prst="rect">
            <a:avLst/>
          </a:prstGeom>
          <a:noFill/>
          <a:ln/>
        </p:spPr>
        <p:txBody>
          <a:bodyPr wrap="square" lIns="0" tIns="0" rIns="0" bIns="0" rtlCol="0" anchor="ctr"/>
          <a:lstStyle/>
          <a:p>
            <a:pPr indent="0" marL="0">
              <a:lnSpc>
                <a:spcPts val="2900"/>
              </a:lnSpc>
              <a:buNone/>
            </a:pPr>
            <a:r>
              <a:rPr lang="en-US" sz="2100" b="1" dirty="0">
                <a:solidFill>
                  <a:srgbClr val="000000"/>
                </a:solidFill>
                <a:latin typeface="Plus Jakarta Sans" pitchFamily="34" charset="0"/>
                <a:ea typeface="Plus Jakarta Sans" pitchFamily="34" charset="-122"/>
                <a:cs typeface="Plus Jakarta Sans" pitchFamily="34" charset="-120"/>
              </a:rPr>
              <a:t>Indian professionals holding three or more credit cards, who travel, and who already know they're leaving value on the table.</a:t>
            </a:r>
            <a:endParaRPr lang="en-US" sz="2100" dirty="0"/>
          </a:p>
        </p:txBody>
      </p:sp>
      <p:sp>
        <p:nvSpPr>
          <p:cNvPr id="9" name="Text 6"/>
          <p:cNvSpPr/>
          <p:nvPr/>
        </p:nvSpPr>
        <p:spPr>
          <a:xfrm>
            <a:off x="731520" y="2990088"/>
            <a:ext cx="10728655" cy="304800"/>
          </a:xfrm>
          <a:prstGeom prst="rect">
            <a:avLst/>
          </a:prstGeom>
          <a:noFill/>
          <a:ln/>
        </p:spPr>
        <p:txBody>
          <a:bodyPr wrap="square" lIns="0" tIns="0" rIns="0" bIns="0" rtlCol="0" anchor="ctr"/>
          <a:lstStyle/>
          <a:p>
            <a:pPr indent="0" marL="0">
              <a:lnSpc>
                <a:spcPts val="2175"/>
              </a:lnSpc>
              <a:buNone/>
            </a:pPr>
            <a:r>
              <a:rPr lang="en-US" sz="1500" dirty="0">
                <a:solidFill>
                  <a:srgbClr val="000000"/>
                </a:solidFill>
                <a:latin typeface="Plus Jakarta Sans" pitchFamily="34" charset="0"/>
                <a:ea typeface="Plus Jakarta Sans" pitchFamily="34" charset="-122"/>
                <a:cs typeface="Plus Jakarta Sans" pitchFamily="34" charset="-120"/>
              </a:rPr>
              <a:t>They hold the most programs, carry the most expiry risk, and gain most from a “which card should I use” answer.</a:t>
            </a:r>
            <a:endParaRPr lang="en-US" sz="1500" dirty="0"/>
          </a:p>
        </p:txBody>
      </p:sp>
      <p:sp>
        <p:nvSpPr>
          <p:cNvPr id="10" name="Shape 7"/>
          <p:cNvSpPr/>
          <p:nvPr/>
        </p:nvSpPr>
        <p:spPr>
          <a:xfrm>
            <a:off x="731520" y="3477768"/>
            <a:ext cx="10728655" cy="1554480"/>
          </a:xfrm>
          <a:prstGeom prst="roundRect">
            <a:avLst>
              <a:gd name="adj" fmla="val 4118"/>
            </a:avLst>
          </a:prstGeom>
          <a:solidFill>
            <a:srgbClr val="FFE878"/>
          </a:solidFill>
          <a:ln w="12700">
            <a:solidFill>
              <a:srgbClr val="FFE878"/>
            </a:solidFill>
            <a:prstDash val="solid"/>
          </a:ln>
        </p:spPr>
      </p:sp>
      <p:sp>
        <p:nvSpPr>
          <p:cNvPr id="11" name="Text 8"/>
          <p:cNvSpPr/>
          <p:nvPr/>
        </p:nvSpPr>
        <p:spPr>
          <a:xfrm>
            <a:off x="987552" y="3596640"/>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2" name="Text 9"/>
          <p:cNvSpPr/>
          <p:nvPr/>
        </p:nvSpPr>
        <p:spPr>
          <a:xfrm>
            <a:off x="1005840" y="3843528"/>
            <a:ext cx="10180015" cy="1097280"/>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Is that the beachhead, or just the person most like us?</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Why them — strongest pain, fastest to pay, best data, or best distribution? Only one can be the reason.</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The counter-argument worth taking seriously: the person with the most programs may also be the most sophisticated, and the least in need of help.</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BUSINESS MODEL</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Two engines, and one hard choice</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10</a:t>
            </a:r>
            <a:endParaRPr lang="en-US" sz="850" dirty="0"/>
          </a:p>
        </p:txBody>
      </p:sp>
      <p:sp>
        <p:nvSpPr>
          <p:cNvPr id="7" name="Shape 4"/>
          <p:cNvSpPr/>
          <p:nvPr/>
        </p:nvSpPr>
        <p:spPr>
          <a:xfrm>
            <a:off x="731520" y="1499616"/>
            <a:ext cx="5227168" cy="1691640"/>
          </a:xfrm>
          <a:prstGeom prst="roundRect">
            <a:avLst>
              <a:gd name="adj" fmla="val 4324"/>
            </a:avLst>
          </a:prstGeom>
          <a:solidFill>
            <a:srgbClr val="C0ECFF"/>
          </a:solidFill>
          <a:ln w="12700">
            <a:solidFill>
              <a:srgbClr val="C0ECFF"/>
            </a:solidFill>
            <a:prstDash val="solid"/>
          </a:ln>
        </p:spPr>
      </p:sp>
      <p:sp>
        <p:nvSpPr>
          <p:cNvPr id="8" name="Text 5"/>
          <p:cNvSpPr/>
          <p:nvPr/>
        </p:nvSpPr>
        <p:spPr>
          <a:xfrm>
            <a:off x="1005840" y="1719072"/>
            <a:ext cx="4678528" cy="274320"/>
          </a:xfrm>
          <a:prstGeom prst="rect">
            <a:avLst/>
          </a:prstGeom>
          <a:noFill/>
          <a:ln/>
        </p:spPr>
        <p:txBody>
          <a:bodyPr wrap="square" lIns="0" tIns="0" rIns="0" bIns="0" rtlCol="0" anchor="ctr"/>
          <a:lstStyle/>
          <a:p>
            <a:pPr indent="0" marL="0">
              <a:buNone/>
            </a:pPr>
            <a:r>
              <a:rPr lang="en-US" sz="1100" b="1" spc="140" kern="0" dirty="0">
                <a:solidFill>
                  <a:srgbClr val="3F0059"/>
                </a:solidFill>
                <a:latin typeface="Plus Jakarta Sans" pitchFamily="34" charset="0"/>
                <a:ea typeface="Plus Jakarta Sans" pitchFamily="34" charset="-122"/>
                <a:cs typeface="Plus Jakarta Sans" pitchFamily="34" charset="-120"/>
              </a:rPr>
              <a:t>CONSUMER  ·  Shishir</a:t>
            </a:r>
            <a:endParaRPr lang="en-US" sz="1100" dirty="0"/>
          </a:p>
        </p:txBody>
      </p:sp>
      <p:sp>
        <p:nvSpPr>
          <p:cNvPr id="9" name="Text 6"/>
          <p:cNvSpPr/>
          <p:nvPr/>
        </p:nvSpPr>
        <p:spPr>
          <a:xfrm>
            <a:off x="1005840" y="2103120"/>
            <a:ext cx="4678528" cy="914400"/>
          </a:xfrm>
          <a:prstGeom prst="rect">
            <a:avLst/>
          </a:prstGeom>
          <a:noFill/>
          <a:ln/>
        </p:spPr>
        <p:txBody>
          <a:bodyPr wrap="square" lIns="0" tIns="0" rIns="0" bIns="0" rtlCol="0" anchor="ctr"/>
          <a:lstStyle/>
          <a:p>
            <a:pPr indent="0" marL="0">
              <a:lnSpc>
                <a:spcPts val="2000"/>
              </a:lnSpc>
              <a:buNone/>
            </a:pPr>
            <a:r>
              <a:rPr lang="en-US" sz="1400" dirty="0">
                <a:solidFill>
                  <a:srgbClr val="000000"/>
                </a:solidFill>
                <a:latin typeface="Plus Jakarta Sans" pitchFamily="34" charset="0"/>
                <a:ea typeface="Plus Jakarta Sans" pitchFamily="34" charset="-122"/>
                <a:cs typeface="Plus Jakarta Sans" pitchFamily="34" charset="-120"/>
              </a:rPr>
              <a:t>Own the relationship. Be the place people check before they buy.</a:t>
            </a:r>
            <a:endParaRPr lang="en-US" sz="1400" dirty="0"/>
          </a:p>
        </p:txBody>
      </p:sp>
      <p:sp>
        <p:nvSpPr>
          <p:cNvPr id="10" name="Shape 7"/>
          <p:cNvSpPr/>
          <p:nvPr/>
        </p:nvSpPr>
        <p:spPr>
          <a:xfrm>
            <a:off x="6233008" y="1499616"/>
            <a:ext cx="5227168" cy="1691640"/>
          </a:xfrm>
          <a:prstGeom prst="roundRect">
            <a:avLst>
              <a:gd name="adj" fmla="val 4324"/>
            </a:avLst>
          </a:prstGeom>
          <a:solidFill>
            <a:srgbClr val="3F0059"/>
          </a:solidFill>
          <a:ln w="12700">
            <a:solidFill>
              <a:srgbClr val="3F0059"/>
            </a:solidFill>
            <a:prstDash val="solid"/>
          </a:ln>
        </p:spPr>
      </p:sp>
      <p:sp>
        <p:nvSpPr>
          <p:cNvPr id="11" name="Text 8"/>
          <p:cNvSpPr/>
          <p:nvPr/>
        </p:nvSpPr>
        <p:spPr>
          <a:xfrm>
            <a:off x="6507328" y="1719072"/>
            <a:ext cx="4678528" cy="274320"/>
          </a:xfrm>
          <a:prstGeom prst="rect">
            <a:avLst/>
          </a:prstGeom>
          <a:noFill/>
          <a:ln/>
        </p:spPr>
        <p:txBody>
          <a:bodyPr wrap="square" lIns="0" tIns="0" rIns="0" bIns="0" rtlCol="0" anchor="ctr"/>
          <a:lstStyle/>
          <a:p>
            <a:pPr indent="0" marL="0">
              <a:buNone/>
            </a:pPr>
            <a:r>
              <a:rPr lang="en-US" sz="1100" b="1" spc="140" kern="0" dirty="0">
                <a:solidFill>
                  <a:srgbClr val="02EFF4"/>
                </a:solidFill>
                <a:latin typeface="Plus Jakarta Sans" pitchFamily="34" charset="0"/>
                <a:ea typeface="Plus Jakarta Sans" pitchFamily="34" charset="-122"/>
                <a:cs typeface="Plus Jakarta Sans" pitchFamily="34" charset="-120"/>
              </a:rPr>
              <a:t>BUSINESS  ·  Luca</a:t>
            </a:r>
            <a:endParaRPr lang="en-US" sz="1100" dirty="0"/>
          </a:p>
        </p:txBody>
      </p:sp>
      <p:sp>
        <p:nvSpPr>
          <p:cNvPr id="12" name="Text 9"/>
          <p:cNvSpPr/>
          <p:nvPr/>
        </p:nvSpPr>
        <p:spPr>
          <a:xfrm>
            <a:off x="6507328" y="2103120"/>
            <a:ext cx="4678528" cy="91440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Plus Jakarta Sans" pitchFamily="34" charset="0"/>
                <a:ea typeface="Plus Jakarta Sans" pitchFamily="34" charset="-122"/>
                <a:cs typeface="Plus Jakarta Sans" pitchFamily="34" charset="-120"/>
              </a:rPr>
              <a:t>Brands, merchants, banks and card issuers. Reach, distribution, and intelligence on what rewards actually work.</a:t>
            </a:r>
            <a:endParaRPr lang="en-US" sz="1400" dirty="0"/>
          </a:p>
        </p:txBody>
      </p:sp>
      <p:sp>
        <p:nvSpPr>
          <p:cNvPr id="13" name="Text 10"/>
          <p:cNvSpPr/>
          <p:nvPr/>
        </p:nvSpPr>
        <p:spPr>
          <a:xfrm>
            <a:off x="731520" y="3429000"/>
            <a:ext cx="10728655" cy="304800"/>
          </a:xfrm>
          <a:prstGeom prst="rect">
            <a:avLst/>
          </a:prstGeom>
          <a:noFill/>
          <a:ln/>
        </p:spPr>
        <p:txBody>
          <a:bodyPr wrap="square" lIns="0" tIns="0" rIns="0" bIns="0" rtlCol="0" anchor="ctr"/>
          <a:lstStyle/>
          <a:p>
            <a:pPr indent="0" marL="0">
              <a:lnSpc>
                <a:spcPts val="2175"/>
              </a:lnSpc>
              <a:buNone/>
            </a:pPr>
            <a:r>
              <a:rPr lang="en-US" sz="1500" dirty="0">
                <a:solidFill>
                  <a:srgbClr val="000000"/>
                </a:solidFill>
                <a:latin typeface="Plus Jakarta Sans" pitchFamily="34" charset="0"/>
                <a:ea typeface="Plus Jakarta Sans" pitchFamily="34" charset="-122"/>
                <a:cs typeface="Plus Jakarta Sans" pitchFamily="34" charset="-120"/>
              </a:rPr>
              <a:t>The bet is that each side makes the other stronger.</a:t>
            </a:r>
            <a:endParaRPr lang="en-US" sz="1500" dirty="0"/>
          </a:p>
        </p:txBody>
      </p:sp>
      <p:sp>
        <p:nvSpPr>
          <p:cNvPr id="14" name="Shape 11"/>
          <p:cNvSpPr/>
          <p:nvPr/>
        </p:nvSpPr>
        <p:spPr>
          <a:xfrm>
            <a:off x="731520" y="3916680"/>
            <a:ext cx="10728655" cy="1627632"/>
          </a:xfrm>
          <a:prstGeom prst="roundRect">
            <a:avLst>
              <a:gd name="adj" fmla="val 3933"/>
            </a:avLst>
          </a:prstGeom>
          <a:solidFill>
            <a:srgbClr val="FFE878"/>
          </a:solidFill>
          <a:ln w="12700">
            <a:solidFill>
              <a:srgbClr val="FFE878"/>
            </a:solidFill>
            <a:prstDash val="solid"/>
          </a:ln>
        </p:spPr>
      </p:sp>
      <p:sp>
        <p:nvSpPr>
          <p:cNvPr id="15" name="Text 12"/>
          <p:cNvSpPr/>
          <p:nvPr/>
        </p:nvSpPr>
        <p:spPr>
          <a:xfrm>
            <a:off x="987552" y="4035552"/>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6" name="Text 13"/>
          <p:cNvSpPr/>
          <p:nvPr/>
        </p:nvSpPr>
        <p:spPr>
          <a:xfrm>
            <a:off x="1005840" y="4282440"/>
            <a:ext cx="10180015" cy="1170432"/>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Which comes first in the next 12 months? Not “both”.</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B2C first means spending on acquisition before we have revenue.</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B2B first means 9–18 month sales cycles and near-zero revenue for a year.</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We have zero business-side conversations started today. That's not a gap in the deck — it's a gap in the company.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REVENUE</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How we make money</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11</a:t>
            </a:r>
            <a:endParaRPr lang="en-US" sz="850" dirty="0"/>
          </a:p>
        </p:txBody>
      </p:sp>
      <p:sp>
        <p:nvSpPr>
          <p:cNvPr id="7" name="Text 4"/>
          <p:cNvSpPr/>
          <p:nvPr/>
        </p:nvSpPr>
        <p:spPr>
          <a:xfrm>
            <a:off x="731520" y="1499616"/>
            <a:ext cx="5394960"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CONSUMER SIDE</a:t>
            </a:r>
            <a:endParaRPr lang="en-US" sz="1000" dirty="0"/>
          </a:p>
        </p:txBody>
      </p:sp>
      <p:sp>
        <p:nvSpPr>
          <p:cNvPr id="8" name="Text 5"/>
          <p:cNvSpPr/>
          <p:nvPr/>
        </p:nvSpPr>
        <p:spPr>
          <a:xfrm>
            <a:off x="768096" y="1810512"/>
            <a:ext cx="4992624" cy="1925955"/>
          </a:xfrm>
          <a:prstGeom prst="rect">
            <a:avLst/>
          </a:prstGeom>
          <a:noFill/>
          <a:ln/>
        </p:spPr>
        <p:txBody>
          <a:bodyPr wrap="square" lIns="0" tIns="0" rIns="0" bIns="0" rtlCol="0" anchor="ctr"/>
          <a:lstStyle/>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Subscription</a:t>
            </a:r>
            <a:endParaRPr lang="en-US" sz="1350" dirty="0"/>
          </a:p>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Affiliate and commission</a:t>
            </a:r>
            <a:endParaRPr lang="en-US" sz="1350" dirty="0"/>
          </a:p>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Merchant-funded offers</a:t>
            </a:r>
            <a:endParaRPr lang="en-US" sz="1350" dirty="0"/>
          </a:p>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Sponsored placement</a:t>
            </a:r>
            <a:endParaRPr lang="en-US" sz="1350" dirty="0"/>
          </a:p>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Premium AI features</a:t>
            </a:r>
            <a:endParaRPr lang="en-US" sz="1350" dirty="0"/>
          </a:p>
        </p:txBody>
      </p:sp>
      <p:sp>
        <p:nvSpPr>
          <p:cNvPr id="9" name="Text 6"/>
          <p:cNvSpPr/>
          <p:nvPr/>
        </p:nvSpPr>
        <p:spPr>
          <a:xfrm>
            <a:off x="6492240" y="1499616"/>
            <a:ext cx="4937760"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BUSINESS SIDE</a:t>
            </a:r>
            <a:endParaRPr lang="en-US" sz="1000" dirty="0"/>
          </a:p>
        </p:txBody>
      </p:sp>
      <p:sp>
        <p:nvSpPr>
          <p:cNvPr id="10" name="Text 7"/>
          <p:cNvSpPr/>
          <p:nvPr/>
        </p:nvSpPr>
        <p:spPr>
          <a:xfrm>
            <a:off x="6528816" y="1810512"/>
            <a:ext cx="4718304" cy="1925955"/>
          </a:xfrm>
          <a:prstGeom prst="rect">
            <a:avLst/>
          </a:prstGeom>
          <a:noFill/>
          <a:ln/>
        </p:spPr>
        <p:txBody>
          <a:bodyPr wrap="square" lIns="0" tIns="0" rIns="0" bIns="0" rtlCol="0" anchor="ctr"/>
          <a:lstStyle/>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SaaS licence</a:t>
            </a:r>
            <a:endParaRPr lang="en-US" sz="1350" dirty="0"/>
          </a:p>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API access</a:t>
            </a:r>
            <a:endParaRPr lang="en-US" sz="1350" dirty="0"/>
          </a:p>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Transaction fees</a:t>
            </a:r>
            <a:endParaRPr lang="en-US" sz="1350" dirty="0"/>
          </a:p>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Revenue share</a:t>
            </a:r>
            <a:endParaRPr lang="en-US" sz="1350" dirty="0"/>
          </a:p>
          <a:p>
            <a:pPr marL="342900" indent="-342900">
              <a:lnSpc>
                <a:spcPts val="1917"/>
              </a:lnSpc>
              <a:spcAft>
                <a:spcPts val="600"/>
              </a:spcAft>
              <a:buSzPct val="100000"/>
              <a:buChar char="●"/>
            </a:pPr>
            <a:r>
              <a:rPr lang="en-US" sz="1350" dirty="0">
                <a:solidFill>
                  <a:srgbClr val="000000"/>
                </a:solidFill>
                <a:latin typeface="Plus Jakarta Sans" pitchFamily="34" charset="0"/>
                <a:ea typeface="Plus Jakarta Sans" pitchFamily="34" charset="-122"/>
                <a:cs typeface="Plus Jakarta Sans" pitchFamily="34" charset="-120"/>
              </a:rPr>
              <a:t>Campaign fees</a:t>
            </a:r>
            <a:endParaRPr lang="en-US" sz="1350" dirty="0"/>
          </a:p>
        </p:txBody>
      </p:sp>
      <p:sp>
        <p:nvSpPr>
          <p:cNvPr id="11" name="Text 8"/>
          <p:cNvSpPr/>
          <p:nvPr/>
        </p:nvSpPr>
        <p:spPr>
          <a:xfrm>
            <a:off x="731520" y="3648456"/>
            <a:ext cx="10728655" cy="310896"/>
          </a:xfrm>
          <a:prstGeom prst="rect">
            <a:avLst/>
          </a:prstGeom>
          <a:noFill/>
          <a:ln/>
        </p:spPr>
        <p:txBody>
          <a:bodyPr wrap="square" lIns="0" tIns="0" rIns="0" bIns="0" rtlCol="0" anchor="ctr"/>
          <a:lstStyle/>
          <a:p>
            <a:pPr indent="0" marL="0">
              <a:buNone/>
            </a:pPr>
            <a:r>
              <a:rPr lang="en-US" sz="1500" i="1" dirty="0">
                <a:solidFill>
                  <a:srgbClr val="6B6B6B"/>
                </a:solidFill>
                <a:latin typeface="Plus Jakarta Sans" pitchFamily="34" charset="0"/>
                <a:ea typeface="Plus Jakarta Sans" pitchFamily="34" charset="-122"/>
                <a:cs typeface="Plus Jakarta Sans" pitchFamily="34" charset="-120"/>
              </a:rPr>
              <a:t>None of this is decided. That is the point of the next question.</a:t>
            </a:r>
            <a:endParaRPr lang="en-US" sz="1500" dirty="0"/>
          </a:p>
        </p:txBody>
      </p:sp>
      <p:sp>
        <p:nvSpPr>
          <p:cNvPr id="12" name="Shape 9"/>
          <p:cNvSpPr/>
          <p:nvPr/>
        </p:nvSpPr>
        <p:spPr>
          <a:xfrm>
            <a:off x="731520" y="4069080"/>
            <a:ext cx="10728655" cy="1842516"/>
          </a:xfrm>
          <a:prstGeom prst="roundRect">
            <a:avLst>
              <a:gd name="adj" fmla="val 3474"/>
            </a:avLst>
          </a:prstGeom>
          <a:solidFill>
            <a:srgbClr val="FFE878"/>
          </a:solidFill>
          <a:ln w="12700">
            <a:solidFill>
              <a:srgbClr val="FFE878"/>
            </a:solidFill>
            <a:prstDash val="solid"/>
          </a:ln>
        </p:spPr>
      </p:sp>
      <p:sp>
        <p:nvSpPr>
          <p:cNvPr id="13" name="Text 10"/>
          <p:cNvSpPr/>
          <p:nvPr/>
        </p:nvSpPr>
        <p:spPr>
          <a:xfrm>
            <a:off x="987552" y="4187952"/>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4" name="Text 11"/>
          <p:cNvSpPr/>
          <p:nvPr/>
        </p:nvSpPr>
        <p:spPr>
          <a:xfrm>
            <a:off x="1005840" y="4434840"/>
            <a:ext cx="10180015" cy="1385316"/>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Rank them: Now / Next / Later / Never.</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Who pays us first — a person or a company? And roughly when?</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Subscription is one option, not the default. It only works if people open the app often. Do they?</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The honest version: if a user costs more to get than we make from them under every model we can name, the consumer app is a distribution strategy for a B2B business. That's a legitimate answer — better said now than found in year two.</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F0059"/>
        </a:solidFill>
      </p:bgPr>
    </p:bg>
    <p:spTree>
      <p:nvGrpSpPr>
        <p:cNvPr id="1" name=""/>
        <p:cNvGrpSpPr/>
        <p:nvPr/>
      </p:nvGrpSpPr>
      <p:grpSpPr>
        <a:xfrm>
          <a:off x="0" y="0"/>
          <a:ext cx="0" cy="0"/>
          <a:chOff x="0" y="0"/>
          <a:chExt cx="0" cy="0"/>
        </a:xfrm>
      </p:grpSpPr>
      <p:sp>
        <p:nvSpPr>
          <p:cNvPr id="2" name="Text 0"/>
          <p:cNvSpPr/>
          <p:nvPr/>
        </p:nvSpPr>
        <p:spPr>
          <a:xfrm>
            <a:off x="731520" y="1737360"/>
            <a:ext cx="10728655" cy="256032"/>
          </a:xfrm>
          <a:prstGeom prst="rect">
            <a:avLst/>
          </a:prstGeom>
          <a:noFill/>
          <a:ln/>
        </p:spPr>
        <p:txBody>
          <a:bodyPr wrap="square" lIns="0" tIns="0" rIns="0" bIns="0" rtlCol="0" anchor="ctr"/>
          <a:lstStyle/>
          <a:p>
            <a:pPr indent="0" marL="0">
              <a:buNone/>
            </a:pPr>
            <a:r>
              <a:rPr lang="en-US" sz="1100" b="1" spc="220" kern="0" dirty="0">
                <a:solidFill>
                  <a:srgbClr val="02EFF4"/>
                </a:solidFill>
                <a:latin typeface="Plus Jakarta Sans" pitchFamily="34" charset="0"/>
                <a:ea typeface="Plus Jakarta Sans" pitchFamily="34" charset="-122"/>
                <a:cs typeface="Plus Jakarta Sans" pitchFamily="34" charset="-120"/>
              </a:rPr>
              <a:t>THE PART EVERYONE ASKS ABOUT</a:t>
            </a:r>
            <a:endParaRPr lang="en-US" sz="1100" dirty="0"/>
          </a:p>
        </p:txBody>
      </p:sp>
      <p:sp>
        <p:nvSpPr>
          <p:cNvPr id="3" name="Text 1"/>
          <p:cNvSpPr/>
          <p:nvPr/>
        </p:nvSpPr>
        <p:spPr>
          <a:xfrm>
            <a:off x="731520" y="2148840"/>
            <a:ext cx="9357055" cy="109728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Plus Jakarta Sans" pitchFamily="34" charset="0"/>
                <a:ea typeface="Plus Jakarta Sans" pitchFamily="34" charset="-122"/>
                <a:cs typeface="Plus Jakarta Sans" pitchFamily="34" charset="-120"/>
              </a:rPr>
              <a:t>Where AI</a:t>
            </a:r>
            <a:endParaRPr lang="en-US" sz="4400" dirty="0"/>
          </a:p>
          <a:p>
            <a:pPr indent="0" marL="0">
              <a:lnSpc>
                <a:spcPts val="5200"/>
              </a:lnSpc>
              <a:buNone/>
            </a:pPr>
            <a:r>
              <a:rPr lang="en-US" sz="4400" b="1" dirty="0">
                <a:solidFill>
                  <a:srgbClr val="FFFFFF"/>
                </a:solidFill>
                <a:latin typeface="Plus Jakarta Sans" pitchFamily="34" charset="0"/>
                <a:ea typeface="Plus Jakarta Sans" pitchFamily="34" charset="-122"/>
                <a:cs typeface="Plus Jakarta Sans" pitchFamily="34" charset="-120"/>
              </a:rPr>
              <a:t>actually plugs in</a:t>
            </a:r>
            <a:endParaRPr lang="en-US" sz="4400" dirty="0"/>
          </a:p>
        </p:txBody>
      </p:sp>
      <p:pic>
        <p:nvPicPr>
          <p:cNvPr id="4" name="Image 0" descr="preencoded.png">    </p:cNvPr>
          <p:cNvPicPr>
            <a:picLocks noChangeAspect="1"/>
          </p:cNvPicPr>
          <p:nvPr/>
        </p:nvPicPr>
        <p:blipFill>
          <a:blip r:embed="rId1"/>
          <a:stretch>
            <a:fillRect/>
          </a:stretch>
        </p:blipFill>
        <p:spPr>
          <a:xfrm>
            <a:off x="731520" y="3429000"/>
            <a:ext cx="6949440" cy="251919"/>
          </a:xfrm>
          <a:prstGeom prst="rect">
            <a:avLst/>
          </a:prstGeom>
        </p:spPr>
      </p:pic>
      <p:sp>
        <p:nvSpPr>
          <p:cNvPr id="5" name="Text 2"/>
          <p:cNvSpPr/>
          <p:nvPr/>
        </p:nvSpPr>
        <p:spPr>
          <a:xfrm>
            <a:off x="731520" y="3794760"/>
            <a:ext cx="9357055" cy="731520"/>
          </a:xfrm>
          <a:prstGeom prst="rect">
            <a:avLst/>
          </a:prstGeom>
          <a:noFill/>
          <a:ln/>
        </p:spPr>
        <p:txBody>
          <a:bodyPr wrap="square" lIns="0" tIns="0" rIns="0" bIns="0" rtlCol="0" anchor="ctr"/>
          <a:lstStyle/>
          <a:p>
            <a:pPr indent="0" marL="0">
              <a:lnSpc>
                <a:spcPts val="2200"/>
              </a:lnSpc>
              <a:buNone/>
            </a:pPr>
            <a:r>
              <a:rPr lang="en-US" sz="1500" dirty="0">
                <a:solidFill>
                  <a:srgbClr val="C9AEDB"/>
                </a:solidFill>
                <a:latin typeface="Plus Jakarta Sans" pitchFamily="34" charset="0"/>
                <a:ea typeface="Plus Jakarta Sans" pitchFamily="34" charset="-122"/>
                <a:cs typeface="Plus Jakarta Sans" pitchFamily="34" charset="-120"/>
              </a:rPr>
              <a:t>Not “we use AI”. Four specific places, and one decision we have to make.</a:t>
            </a:r>
            <a:endParaRPr lang="en-US" sz="1500" dirty="0"/>
          </a:p>
        </p:txBody>
      </p:sp>
      <p:pic>
        <p:nvPicPr>
          <p:cNvPr id="6" name="Image 1" descr="preencoded.png">    </p:cNvPr>
          <p:cNvPicPr>
            <a:picLocks noChangeAspect="1"/>
          </p:cNvPicPr>
          <p:nvPr/>
        </p:nvPicPr>
        <p:blipFill>
          <a:blip r:embed="rId2"/>
          <a:stretch>
            <a:fillRect/>
          </a:stretch>
        </p:blipFill>
        <p:spPr>
          <a:xfrm>
            <a:off x="731520" y="6345936"/>
            <a:ext cx="167445" cy="256032"/>
          </a:xfrm>
          <a:prstGeom prst="rect">
            <a:avLst/>
          </a:prstGeom>
        </p:spPr>
      </p:pic>
      <p:sp>
        <p:nvSpPr>
          <p:cNvPr id="7" name="Text 3"/>
          <p:cNvSpPr/>
          <p:nvPr/>
        </p:nvSpPr>
        <p:spPr>
          <a:xfrm>
            <a:off x="1280160" y="6400800"/>
            <a:ext cx="5486400" cy="219456"/>
          </a:xfrm>
          <a:prstGeom prst="rect">
            <a:avLst/>
          </a:prstGeom>
          <a:noFill/>
          <a:ln/>
        </p:spPr>
        <p:txBody>
          <a:bodyPr wrap="square" lIns="0" tIns="0" rIns="0" bIns="0" rtlCol="0" anchor="ctr"/>
          <a:lstStyle/>
          <a:p>
            <a:pPr indent="0" marL="0">
              <a:buNone/>
            </a:pPr>
            <a:r>
              <a:rPr lang="en-US" sz="850" dirty="0">
                <a:solidFill>
                  <a:srgbClr val="8C6FA3"/>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8" name="Text 4"/>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8C6FA3"/>
                </a:solidFill>
                <a:latin typeface="Plus Jakarta Sans" pitchFamily="34" charset="0"/>
                <a:ea typeface="Plus Jakarta Sans" pitchFamily="34" charset="-122"/>
                <a:cs typeface="Plus Jakarta Sans"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AI</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Four places, not a buzzword</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13</a:t>
            </a:r>
            <a:endParaRPr lang="en-US" sz="850" dirty="0"/>
          </a:p>
        </p:txBody>
      </p:sp>
      <p:sp>
        <p:nvSpPr>
          <p:cNvPr id="7" name="Shape 4"/>
          <p:cNvSpPr/>
          <p:nvPr/>
        </p:nvSpPr>
        <p:spPr>
          <a:xfrm>
            <a:off x="731520" y="1499616"/>
            <a:ext cx="10728655" cy="1700784"/>
          </a:xfrm>
          <a:prstGeom prst="roundRect">
            <a:avLst>
              <a:gd name="adj" fmla="val 4301"/>
            </a:avLst>
          </a:prstGeom>
          <a:solidFill>
            <a:srgbClr val="3F0059"/>
          </a:solidFill>
          <a:ln w="12700">
            <a:solidFill>
              <a:srgbClr val="3F0059"/>
            </a:solidFill>
            <a:prstDash val="solid"/>
          </a:ln>
        </p:spPr>
      </p:sp>
      <p:sp>
        <p:nvSpPr>
          <p:cNvPr id="8" name="Text 5"/>
          <p:cNvSpPr/>
          <p:nvPr/>
        </p:nvSpPr>
        <p:spPr>
          <a:xfrm>
            <a:off x="1024128" y="1664208"/>
            <a:ext cx="10143439" cy="237744"/>
          </a:xfrm>
          <a:prstGeom prst="rect">
            <a:avLst/>
          </a:prstGeom>
          <a:noFill/>
          <a:ln/>
        </p:spPr>
        <p:txBody>
          <a:bodyPr wrap="square" lIns="0" tIns="0" rIns="0" bIns="0" rtlCol="0" anchor="ctr"/>
          <a:lstStyle/>
          <a:p>
            <a:pPr indent="0" marL="0">
              <a:buNone/>
            </a:pPr>
            <a:r>
              <a:rPr lang="en-US" sz="1000" b="1" spc="140" kern="0" dirty="0">
                <a:solidFill>
                  <a:srgbClr val="02EFF4"/>
                </a:solidFill>
                <a:latin typeface="Plus Jakarta Sans" pitchFamily="34" charset="0"/>
                <a:ea typeface="Plus Jakarta Sans" pitchFamily="34" charset="-122"/>
                <a:cs typeface="Plus Jakarta Sans" pitchFamily="34" charset="-120"/>
              </a:rPr>
              <a:t>1 · THE CONCIERGE — THIS IS THE PRODUCT</a:t>
            </a:r>
            <a:endParaRPr lang="en-US" sz="1000" dirty="0"/>
          </a:p>
        </p:txBody>
      </p:sp>
      <p:sp>
        <p:nvSpPr>
          <p:cNvPr id="9" name="Text 6"/>
          <p:cNvSpPr/>
          <p:nvPr/>
        </p:nvSpPr>
        <p:spPr>
          <a:xfrm>
            <a:off x="1024128" y="1956816"/>
            <a:ext cx="10143439" cy="749808"/>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Plus Jakarta Sans" pitchFamily="34" charset="0"/>
                <a:ea typeface="Plus Jakarta Sans" pitchFamily="34" charset="-122"/>
                <a:cs typeface="Plus Jakarta Sans" pitchFamily="34" charset="-120"/>
              </a:rPr>
              <a:t>“I'm buying a ₹50,000 TV. Which card, merchant, offer and reward combination gives me the most value?”</a:t>
            </a:r>
            <a:endParaRPr lang="en-US" sz="1800" dirty="0"/>
          </a:p>
        </p:txBody>
      </p:sp>
      <p:sp>
        <p:nvSpPr>
          <p:cNvPr id="10" name="Text 7"/>
          <p:cNvSpPr/>
          <p:nvPr/>
        </p:nvSpPr>
        <p:spPr>
          <a:xfrm>
            <a:off x="1024128" y="2743200"/>
            <a:ext cx="10143439" cy="365760"/>
          </a:xfrm>
          <a:prstGeom prst="rect">
            <a:avLst/>
          </a:prstGeom>
          <a:noFill/>
          <a:ln/>
        </p:spPr>
        <p:txBody>
          <a:bodyPr wrap="square" lIns="0" tIns="0" rIns="0" bIns="0" rtlCol="0" anchor="ctr"/>
          <a:lstStyle/>
          <a:p>
            <a:pPr indent="0" marL="0">
              <a:lnSpc>
                <a:spcPts val="1600"/>
              </a:lnSpc>
              <a:buNone/>
            </a:pPr>
            <a:r>
              <a:rPr lang="en-US" sz="1200" dirty="0">
                <a:solidFill>
                  <a:srgbClr val="C9AEDB"/>
                </a:solidFill>
                <a:latin typeface="Plus Jakarta Sans" pitchFamily="34" charset="0"/>
                <a:ea typeface="Plus Jakarta Sans" pitchFamily="34" charset="-122"/>
                <a:cs typeface="Plus Jakarta Sans" pitchFamily="34" charset="-120"/>
              </a:rPr>
              <a:t>Card benefits, live offers, your balances, merchant pricing, redemption values, expiry timing — resolved into one answer in seconds. Nobody can do this by hand. That's the point.</a:t>
            </a:r>
            <a:endParaRPr lang="en-US" sz="1200" dirty="0"/>
          </a:p>
        </p:txBody>
      </p:sp>
      <p:sp>
        <p:nvSpPr>
          <p:cNvPr id="11" name="Shape 8"/>
          <p:cNvSpPr/>
          <p:nvPr/>
        </p:nvSpPr>
        <p:spPr>
          <a:xfrm>
            <a:off x="731520" y="3383280"/>
            <a:ext cx="3320186" cy="1481328"/>
          </a:xfrm>
          <a:prstGeom prst="roundRect">
            <a:avLst>
              <a:gd name="adj" fmla="val 4938"/>
            </a:avLst>
          </a:prstGeom>
          <a:solidFill>
            <a:srgbClr val="F7F3F9"/>
          </a:solidFill>
          <a:ln w="9525">
            <a:solidFill>
              <a:srgbClr val="D8D2DC"/>
            </a:solidFill>
            <a:prstDash val="solid"/>
          </a:ln>
        </p:spPr>
      </p:sp>
      <p:sp>
        <p:nvSpPr>
          <p:cNvPr id="12" name="Text 9"/>
          <p:cNvSpPr/>
          <p:nvPr/>
        </p:nvSpPr>
        <p:spPr>
          <a:xfrm>
            <a:off x="950976" y="3584448"/>
            <a:ext cx="2881274" cy="457200"/>
          </a:xfrm>
          <a:prstGeom prst="rect">
            <a:avLst/>
          </a:prstGeom>
          <a:noFill/>
          <a:ln/>
        </p:spPr>
        <p:txBody>
          <a:bodyPr wrap="square" lIns="0" tIns="0" rIns="0" bIns="0" rtlCol="0" anchor="ctr"/>
          <a:lstStyle/>
          <a:p>
            <a:pPr indent="0" marL="0">
              <a:lnSpc>
                <a:spcPts val="1900"/>
              </a:lnSpc>
              <a:buNone/>
            </a:pPr>
            <a:r>
              <a:rPr lang="en-US" sz="1400" b="1" dirty="0">
                <a:solidFill>
                  <a:srgbClr val="3F0059"/>
                </a:solidFill>
                <a:latin typeface="Plus Jakarta Sans" pitchFamily="34" charset="0"/>
                <a:ea typeface="Plus Jakarta Sans" pitchFamily="34" charset="-122"/>
                <a:cs typeface="Plus Jakarta Sans" pitchFamily="34" charset="-120"/>
              </a:rPr>
              <a:t>2 · Making sense of messy data</a:t>
            </a:r>
            <a:endParaRPr lang="en-US" sz="1400" dirty="0"/>
          </a:p>
        </p:txBody>
      </p:sp>
      <p:sp>
        <p:nvSpPr>
          <p:cNvPr id="13" name="Text 10"/>
          <p:cNvSpPr/>
          <p:nvPr/>
        </p:nvSpPr>
        <p:spPr>
          <a:xfrm>
            <a:off x="950976" y="4059936"/>
            <a:ext cx="2881274" cy="731520"/>
          </a:xfrm>
          <a:prstGeom prst="rect">
            <a:avLst/>
          </a:prstGeom>
          <a:noFill/>
          <a:ln/>
        </p:spPr>
        <p:txBody>
          <a:bodyPr wrap="square" lIns="0" tIns="0" rIns="0" bIns="0" rtlCol="0" anchor="ctr"/>
          <a:lstStyle/>
          <a:p>
            <a:pPr indent="0" marL="0">
              <a:lnSpc>
                <a:spcPts val="1600"/>
              </a:lnSpc>
              <a:buNone/>
            </a:pPr>
            <a:r>
              <a:rPr lang="en-US" sz="1150" dirty="0">
                <a:solidFill>
                  <a:srgbClr val="000000"/>
                </a:solidFill>
                <a:latin typeface="Plus Jakarta Sans" pitchFamily="34" charset="0"/>
                <a:ea typeface="Plus Jakarta Sans" pitchFamily="34" charset="-122"/>
                <a:cs typeface="Plus Jakarta Sans" pitchFamily="34" charset="-120"/>
              </a:rPr>
              <a:t>Loyalty data arrives as unstructured email with no standards. Reading it reliably at scale is an AI problem, not a parsing problem.</a:t>
            </a:r>
            <a:endParaRPr lang="en-US" sz="1150" dirty="0"/>
          </a:p>
        </p:txBody>
      </p:sp>
      <p:sp>
        <p:nvSpPr>
          <p:cNvPr id="14" name="Shape 11"/>
          <p:cNvSpPr/>
          <p:nvPr/>
        </p:nvSpPr>
        <p:spPr>
          <a:xfrm>
            <a:off x="4353458" y="3383280"/>
            <a:ext cx="3320186" cy="1481328"/>
          </a:xfrm>
          <a:prstGeom prst="roundRect">
            <a:avLst>
              <a:gd name="adj" fmla="val 4938"/>
            </a:avLst>
          </a:prstGeom>
          <a:solidFill>
            <a:srgbClr val="F7F3F9"/>
          </a:solidFill>
          <a:ln w="9525">
            <a:solidFill>
              <a:srgbClr val="D8D2DC"/>
            </a:solidFill>
            <a:prstDash val="solid"/>
          </a:ln>
        </p:spPr>
      </p:sp>
      <p:sp>
        <p:nvSpPr>
          <p:cNvPr id="15" name="Text 12"/>
          <p:cNvSpPr/>
          <p:nvPr/>
        </p:nvSpPr>
        <p:spPr>
          <a:xfrm>
            <a:off x="4572914" y="3584448"/>
            <a:ext cx="2881274" cy="457200"/>
          </a:xfrm>
          <a:prstGeom prst="rect">
            <a:avLst/>
          </a:prstGeom>
          <a:noFill/>
          <a:ln/>
        </p:spPr>
        <p:txBody>
          <a:bodyPr wrap="square" lIns="0" tIns="0" rIns="0" bIns="0" rtlCol="0" anchor="ctr"/>
          <a:lstStyle/>
          <a:p>
            <a:pPr indent="0" marL="0">
              <a:lnSpc>
                <a:spcPts val="1900"/>
              </a:lnSpc>
              <a:buNone/>
            </a:pPr>
            <a:r>
              <a:rPr lang="en-US" sz="1400" b="1" dirty="0">
                <a:solidFill>
                  <a:srgbClr val="3F0059"/>
                </a:solidFill>
                <a:latin typeface="Plus Jakarta Sans" pitchFamily="34" charset="0"/>
                <a:ea typeface="Plus Jakarta Sans" pitchFamily="34" charset="-122"/>
                <a:cs typeface="Plus Jakarta Sans" pitchFamily="34" charset="-120"/>
              </a:rPr>
              <a:t>3 · Knowing when to nudge</a:t>
            </a:r>
            <a:endParaRPr lang="en-US" sz="1400" dirty="0"/>
          </a:p>
        </p:txBody>
      </p:sp>
      <p:sp>
        <p:nvSpPr>
          <p:cNvPr id="16" name="Text 13"/>
          <p:cNvSpPr/>
          <p:nvPr/>
        </p:nvSpPr>
        <p:spPr>
          <a:xfrm>
            <a:off x="4572914" y="4059936"/>
            <a:ext cx="2881274" cy="731520"/>
          </a:xfrm>
          <a:prstGeom prst="rect">
            <a:avLst/>
          </a:prstGeom>
          <a:noFill/>
          <a:ln/>
        </p:spPr>
        <p:txBody>
          <a:bodyPr wrap="square" lIns="0" tIns="0" rIns="0" bIns="0" rtlCol="0" anchor="ctr"/>
          <a:lstStyle/>
          <a:p>
            <a:pPr indent="0" marL="0">
              <a:lnSpc>
                <a:spcPts val="1600"/>
              </a:lnSpc>
              <a:buNone/>
            </a:pPr>
            <a:r>
              <a:rPr lang="en-US" sz="1150" dirty="0">
                <a:solidFill>
                  <a:srgbClr val="000000"/>
                </a:solidFill>
                <a:latin typeface="Plus Jakarta Sans" pitchFamily="34" charset="0"/>
                <a:ea typeface="Plus Jakarta Sans" pitchFamily="34" charset="-122"/>
                <a:cs typeface="Plus Jakarta Sans" pitchFamily="34" charset="-120"/>
              </a:rPr>
              <a:t>Which points are at risk, when someone is about to buy, what they'd actually want.</a:t>
            </a:r>
            <a:endParaRPr lang="en-US" sz="1150" dirty="0"/>
          </a:p>
        </p:txBody>
      </p:sp>
      <p:sp>
        <p:nvSpPr>
          <p:cNvPr id="17" name="Shape 14"/>
          <p:cNvSpPr/>
          <p:nvPr/>
        </p:nvSpPr>
        <p:spPr>
          <a:xfrm>
            <a:off x="7975397" y="3383280"/>
            <a:ext cx="3320186" cy="1481328"/>
          </a:xfrm>
          <a:prstGeom prst="roundRect">
            <a:avLst>
              <a:gd name="adj" fmla="val 4938"/>
            </a:avLst>
          </a:prstGeom>
          <a:solidFill>
            <a:srgbClr val="F7F3F9"/>
          </a:solidFill>
          <a:ln w="9525">
            <a:solidFill>
              <a:srgbClr val="D8D2DC"/>
            </a:solidFill>
            <a:prstDash val="solid"/>
          </a:ln>
        </p:spPr>
      </p:sp>
      <p:sp>
        <p:nvSpPr>
          <p:cNvPr id="18" name="Text 15"/>
          <p:cNvSpPr/>
          <p:nvPr/>
        </p:nvSpPr>
        <p:spPr>
          <a:xfrm>
            <a:off x="8194853" y="3584448"/>
            <a:ext cx="2881274" cy="457200"/>
          </a:xfrm>
          <a:prstGeom prst="rect">
            <a:avLst/>
          </a:prstGeom>
          <a:noFill/>
          <a:ln/>
        </p:spPr>
        <p:txBody>
          <a:bodyPr wrap="square" lIns="0" tIns="0" rIns="0" bIns="0" rtlCol="0" anchor="ctr"/>
          <a:lstStyle/>
          <a:p>
            <a:pPr indent="0" marL="0">
              <a:lnSpc>
                <a:spcPts val="1900"/>
              </a:lnSpc>
              <a:buNone/>
            </a:pPr>
            <a:r>
              <a:rPr lang="en-US" sz="1400" b="1" dirty="0">
                <a:solidFill>
                  <a:srgbClr val="3F0059"/>
                </a:solidFill>
                <a:latin typeface="Plus Jakarta Sans" pitchFamily="34" charset="0"/>
                <a:ea typeface="Plus Jakarta Sans" pitchFamily="34" charset="-122"/>
                <a:cs typeface="Plus Jakarta Sans" pitchFamily="34" charset="-120"/>
              </a:rPr>
              <a:t>4 · Merchant intelligence</a:t>
            </a:r>
            <a:endParaRPr lang="en-US" sz="1400" dirty="0"/>
          </a:p>
        </p:txBody>
      </p:sp>
      <p:sp>
        <p:nvSpPr>
          <p:cNvPr id="19" name="Text 16"/>
          <p:cNvSpPr/>
          <p:nvPr/>
        </p:nvSpPr>
        <p:spPr>
          <a:xfrm>
            <a:off x="8194853" y="4059936"/>
            <a:ext cx="2881274" cy="731520"/>
          </a:xfrm>
          <a:prstGeom prst="rect">
            <a:avLst/>
          </a:prstGeom>
          <a:noFill/>
          <a:ln/>
        </p:spPr>
        <p:txBody>
          <a:bodyPr wrap="square" lIns="0" tIns="0" rIns="0" bIns="0" rtlCol="0" anchor="ctr"/>
          <a:lstStyle/>
          <a:p>
            <a:pPr indent="0" marL="0">
              <a:lnSpc>
                <a:spcPts val="1600"/>
              </a:lnSpc>
              <a:buNone/>
            </a:pPr>
            <a:r>
              <a:rPr lang="en-US" sz="1150" dirty="0">
                <a:solidFill>
                  <a:srgbClr val="000000"/>
                </a:solidFill>
                <a:latin typeface="Plus Jakarta Sans" pitchFamily="34" charset="0"/>
                <a:ea typeface="Plus Jakarta Sans" pitchFamily="34" charset="-122"/>
                <a:cs typeface="Plus Jakarta Sans" pitchFamily="34" charset="-120"/>
              </a:rPr>
              <a:t>Who to target, what reward to offer, when, which incentive converts, who is about to churn.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AI · THE DECISION</a:t>
            </a:r>
            <a:endParaRPr lang="en-US" sz="950" dirty="0"/>
          </a:p>
        </p:txBody>
      </p:sp>
      <p:sp>
        <p:nvSpPr>
          <p:cNvPr id="3" name="Text 1"/>
          <p:cNvSpPr/>
          <p:nvPr/>
        </p:nvSpPr>
        <p:spPr>
          <a:xfrm>
            <a:off x="731520" y="749808"/>
            <a:ext cx="10728655" cy="914400"/>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If we removed AI, would this still be the same company?</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14</a:t>
            </a:r>
            <a:endParaRPr lang="en-US" sz="850" dirty="0"/>
          </a:p>
        </p:txBody>
      </p:sp>
      <p:sp>
        <p:nvSpPr>
          <p:cNvPr id="7" name="Shape 4"/>
          <p:cNvSpPr/>
          <p:nvPr/>
        </p:nvSpPr>
        <p:spPr>
          <a:xfrm>
            <a:off x="731520" y="1828800"/>
            <a:ext cx="10728655" cy="676656"/>
          </a:xfrm>
          <a:prstGeom prst="roundRect">
            <a:avLst>
              <a:gd name="adj" fmla="val 8108"/>
            </a:avLst>
          </a:prstGeom>
          <a:solidFill>
            <a:srgbClr val="F7F3F9"/>
          </a:solidFill>
          <a:ln w="9525">
            <a:solidFill>
              <a:srgbClr val="D8D2DC"/>
            </a:solidFill>
            <a:prstDash val="solid"/>
          </a:ln>
        </p:spPr>
      </p:sp>
      <p:sp>
        <p:nvSpPr>
          <p:cNvPr id="8" name="Text 5"/>
          <p:cNvSpPr/>
          <p:nvPr/>
        </p:nvSpPr>
        <p:spPr>
          <a:xfrm>
            <a:off x="969264" y="1828800"/>
            <a:ext cx="457200" cy="676656"/>
          </a:xfrm>
          <a:prstGeom prst="rect">
            <a:avLst/>
          </a:prstGeom>
          <a:noFill/>
          <a:ln/>
        </p:spPr>
        <p:txBody>
          <a:bodyPr wrap="square" lIns="0" tIns="0" rIns="0" bIns="0" rtlCol="0" anchor="ctr"/>
          <a:lstStyle/>
          <a:p>
            <a:pPr indent="0" marL="0">
              <a:buNone/>
            </a:pPr>
            <a:r>
              <a:rPr lang="en-US" sz="2200" b="1" dirty="0">
                <a:solidFill>
                  <a:srgbClr val="01A2FB"/>
                </a:solidFill>
                <a:latin typeface="Plus Jakarta Sans" pitchFamily="34" charset="0"/>
                <a:ea typeface="Plus Jakarta Sans" pitchFamily="34" charset="-122"/>
                <a:cs typeface="Plus Jakarta Sans" pitchFamily="34" charset="-120"/>
              </a:rPr>
              <a:t>1</a:t>
            </a:r>
            <a:endParaRPr lang="en-US" sz="2200" dirty="0"/>
          </a:p>
        </p:txBody>
      </p:sp>
      <p:sp>
        <p:nvSpPr>
          <p:cNvPr id="9" name="Text 6"/>
          <p:cNvSpPr/>
          <p:nvPr/>
        </p:nvSpPr>
        <p:spPr>
          <a:xfrm>
            <a:off x="1554480" y="1828800"/>
            <a:ext cx="5486400" cy="676656"/>
          </a:xfrm>
          <a:prstGeom prst="rect">
            <a:avLst/>
          </a:prstGeom>
          <a:noFill/>
          <a:ln/>
        </p:spPr>
        <p:txBody>
          <a:bodyPr wrap="square" lIns="0" tIns="0" rIns="0" bIns="0" rtlCol="0" anchor="ctr"/>
          <a:lstStyle/>
          <a:p>
            <a:pPr indent="0" marL="0">
              <a:buNone/>
            </a:pPr>
            <a:r>
              <a:rPr lang="en-US" sz="1400" b="1" dirty="0">
                <a:solidFill>
                  <a:srgbClr val="000000"/>
                </a:solidFill>
                <a:latin typeface="Plus Jakarta Sans" pitchFamily="34" charset="0"/>
                <a:ea typeface="Plus Jakarta Sans" pitchFamily="34" charset="-122"/>
                <a:cs typeface="Plus Jakarta Sans" pitchFamily="34" charset="-120"/>
              </a:rPr>
              <a:t>AI makes our product better</a:t>
            </a:r>
            <a:endParaRPr lang="en-US" sz="1400" dirty="0"/>
          </a:p>
        </p:txBody>
      </p:sp>
      <p:sp>
        <p:nvSpPr>
          <p:cNvPr id="10" name="Text 7"/>
          <p:cNvSpPr/>
          <p:nvPr/>
        </p:nvSpPr>
        <p:spPr>
          <a:xfrm>
            <a:off x="7132320" y="1828800"/>
            <a:ext cx="4144975" cy="676656"/>
          </a:xfrm>
          <a:prstGeom prst="rect">
            <a:avLst/>
          </a:prstGeom>
          <a:noFill/>
          <a:ln/>
        </p:spPr>
        <p:txBody>
          <a:bodyPr wrap="square" lIns="0" tIns="0" rIns="0" bIns="0" rtlCol="0" anchor="ctr"/>
          <a:lstStyle/>
          <a:p>
            <a:pPr indent="0" marL="0">
              <a:buNone/>
            </a:pPr>
            <a:r>
              <a:rPr lang="en-US" sz="1200" dirty="0">
                <a:solidFill>
                  <a:srgbClr val="6B6B6B"/>
                </a:solidFill>
                <a:latin typeface="Plus Jakarta Sans" pitchFamily="34" charset="0"/>
                <a:ea typeface="Plus Jakarta Sans" pitchFamily="34" charset="-122"/>
                <a:cs typeface="Plus Jakarta Sans" pitchFamily="34" charset="-120"/>
              </a:rPr>
              <a:t>Everyone has this. No moat.</a:t>
            </a:r>
            <a:endParaRPr lang="en-US" sz="1200" dirty="0"/>
          </a:p>
        </p:txBody>
      </p:sp>
      <p:sp>
        <p:nvSpPr>
          <p:cNvPr id="11" name="Shape 8"/>
          <p:cNvSpPr/>
          <p:nvPr/>
        </p:nvSpPr>
        <p:spPr>
          <a:xfrm>
            <a:off x="731520" y="2615184"/>
            <a:ext cx="10728655" cy="676656"/>
          </a:xfrm>
          <a:prstGeom prst="roundRect">
            <a:avLst>
              <a:gd name="adj" fmla="val 8108"/>
            </a:avLst>
          </a:prstGeom>
          <a:solidFill>
            <a:srgbClr val="F7F3F9"/>
          </a:solidFill>
          <a:ln w="9525">
            <a:solidFill>
              <a:srgbClr val="D8D2DC"/>
            </a:solidFill>
            <a:prstDash val="solid"/>
          </a:ln>
        </p:spPr>
      </p:sp>
      <p:sp>
        <p:nvSpPr>
          <p:cNvPr id="12" name="Text 9"/>
          <p:cNvSpPr/>
          <p:nvPr/>
        </p:nvSpPr>
        <p:spPr>
          <a:xfrm>
            <a:off x="969264" y="2615184"/>
            <a:ext cx="457200" cy="676656"/>
          </a:xfrm>
          <a:prstGeom prst="rect">
            <a:avLst/>
          </a:prstGeom>
          <a:noFill/>
          <a:ln/>
        </p:spPr>
        <p:txBody>
          <a:bodyPr wrap="square" lIns="0" tIns="0" rIns="0" bIns="0" rtlCol="0" anchor="ctr"/>
          <a:lstStyle/>
          <a:p>
            <a:pPr indent="0" marL="0">
              <a:buNone/>
            </a:pPr>
            <a:r>
              <a:rPr lang="en-US" sz="2200" b="1" dirty="0">
                <a:solidFill>
                  <a:srgbClr val="01A2FB"/>
                </a:solidFill>
                <a:latin typeface="Plus Jakarta Sans" pitchFamily="34" charset="0"/>
                <a:ea typeface="Plus Jakarta Sans" pitchFamily="34" charset="-122"/>
                <a:cs typeface="Plus Jakarta Sans" pitchFamily="34" charset="-120"/>
              </a:rPr>
              <a:t>2</a:t>
            </a:r>
            <a:endParaRPr lang="en-US" sz="2200" dirty="0"/>
          </a:p>
        </p:txBody>
      </p:sp>
      <p:sp>
        <p:nvSpPr>
          <p:cNvPr id="13" name="Text 10"/>
          <p:cNvSpPr/>
          <p:nvPr/>
        </p:nvSpPr>
        <p:spPr>
          <a:xfrm>
            <a:off x="1554480" y="2615184"/>
            <a:ext cx="5486400" cy="676656"/>
          </a:xfrm>
          <a:prstGeom prst="rect">
            <a:avLst/>
          </a:prstGeom>
          <a:noFill/>
          <a:ln/>
        </p:spPr>
        <p:txBody>
          <a:bodyPr wrap="square" lIns="0" tIns="0" rIns="0" bIns="0" rtlCol="0" anchor="ctr"/>
          <a:lstStyle/>
          <a:p>
            <a:pPr indent="0" marL="0">
              <a:buNone/>
            </a:pPr>
            <a:r>
              <a:rPr lang="en-US" sz="1400" b="1" dirty="0">
                <a:solidFill>
                  <a:srgbClr val="000000"/>
                </a:solidFill>
                <a:latin typeface="Plus Jakarta Sans" pitchFamily="34" charset="0"/>
                <a:ea typeface="Plus Jakarta Sans" pitchFamily="34" charset="-122"/>
                <a:cs typeface="Plus Jakarta Sans" pitchFamily="34" charset="-120"/>
              </a:rPr>
              <a:t>AI lets us build what we otherwise couldn't</a:t>
            </a:r>
            <a:endParaRPr lang="en-US" sz="1400" dirty="0"/>
          </a:p>
        </p:txBody>
      </p:sp>
      <p:sp>
        <p:nvSpPr>
          <p:cNvPr id="14" name="Text 11"/>
          <p:cNvSpPr/>
          <p:nvPr/>
        </p:nvSpPr>
        <p:spPr>
          <a:xfrm>
            <a:off x="7132320" y="2615184"/>
            <a:ext cx="4144975" cy="676656"/>
          </a:xfrm>
          <a:prstGeom prst="rect">
            <a:avLst/>
          </a:prstGeom>
          <a:noFill/>
          <a:ln/>
        </p:spPr>
        <p:txBody>
          <a:bodyPr wrap="square" lIns="0" tIns="0" rIns="0" bIns="0" rtlCol="0" anchor="ctr"/>
          <a:lstStyle/>
          <a:p>
            <a:pPr indent="0" marL="0">
              <a:buNone/>
            </a:pPr>
            <a:r>
              <a:rPr lang="en-US" sz="1200" dirty="0">
                <a:solidFill>
                  <a:srgbClr val="6B6B6B"/>
                </a:solidFill>
                <a:latin typeface="Plus Jakarta Sans" pitchFamily="34" charset="0"/>
                <a:ea typeface="Plus Jakarta Sans" pitchFamily="34" charset="-122"/>
                <a:cs typeface="Plus Jakarta Sans" pitchFamily="34" charset="-120"/>
              </a:rPr>
              <a:t>Our wedge. The moat is the data, not the model.</a:t>
            </a:r>
            <a:endParaRPr lang="en-US" sz="1200" dirty="0"/>
          </a:p>
        </p:txBody>
      </p:sp>
      <p:sp>
        <p:nvSpPr>
          <p:cNvPr id="15" name="Shape 12"/>
          <p:cNvSpPr/>
          <p:nvPr/>
        </p:nvSpPr>
        <p:spPr>
          <a:xfrm>
            <a:off x="731520" y="3401568"/>
            <a:ext cx="10728655" cy="676656"/>
          </a:xfrm>
          <a:prstGeom prst="roundRect">
            <a:avLst>
              <a:gd name="adj" fmla="val 8108"/>
            </a:avLst>
          </a:prstGeom>
          <a:solidFill>
            <a:srgbClr val="F7F3F9"/>
          </a:solidFill>
          <a:ln w="9525">
            <a:solidFill>
              <a:srgbClr val="D8D2DC"/>
            </a:solidFill>
            <a:prstDash val="solid"/>
          </a:ln>
        </p:spPr>
      </p:sp>
      <p:sp>
        <p:nvSpPr>
          <p:cNvPr id="16" name="Text 13"/>
          <p:cNvSpPr/>
          <p:nvPr/>
        </p:nvSpPr>
        <p:spPr>
          <a:xfrm>
            <a:off x="969264" y="3401568"/>
            <a:ext cx="457200" cy="676656"/>
          </a:xfrm>
          <a:prstGeom prst="rect">
            <a:avLst/>
          </a:prstGeom>
          <a:noFill/>
          <a:ln/>
        </p:spPr>
        <p:txBody>
          <a:bodyPr wrap="square" lIns="0" tIns="0" rIns="0" bIns="0" rtlCol="0" anchor="ctr"/>
          <a:lstStyle/>
          <a:p>
            <a:pPr indent="0" marL="0">
              <a:buNone/>
            </a:pPr>
            <a:r>
              <a:rPr lang="en-US" sz="2200" b="1" dirty="0">
                <a:solidFill>
                  <a:srgbClr val="01A2FB"/>
                </a:solidFill>
                <a:latin typeface="Plus Jakarta Sans" pitchFamily="34" charset="0"/>
                <a:ea typeface="Plus Jakarta Sans" pitchFamily="34" charset="-122"/>
                <a:cs typeface="Plus Jakarta Sans" pitchFamily="34" charset="-120"/>
              </a:rPr>
              <a:t>3</a:t>
            </a:r>
            <a:endParaRPr lang="en-US" sz="2200" dirty="0"/>
          </a:p>
        </p:txBody>
      </p:sp>
      <p:sp>
        <p:nvSpPr>
          <p:cNvPr id="17" name="Text 14"/>
          <p:cNvSpPr/>
          <p:nvPr/>
        </p:nvSpPr>
        <p:spPr>
          <a:xfrm>
            <a:off x="1554480" y="3401568"/>
            <a:ext cx="5486400" cy="676656"/>
          </a:xfrm>
          <a:prstGeom prst="rect">
            <a:avLst/>
          </a:prstGeom>
          <a:noFill/>
          <a:ln/>
        </p:spPr>
        <p:txBody>
          <a:bodyPr wrap="square" lIns="0" tIns="0" rIns="0" bIns="0" rtlCol="0" anchor="ctr"/>
          <a:lstStyle/>
          <a:p>
            <a:pPr indent="0" marL="0">
              <a:buNone/>
            </a:pPr>
            <a:r>
              <a:rPr lang="en-US" sz="1400" b="1" dirty="0">
                <a:solidFill>
                  <a:srgbClr val="000000"/>
                </a:solidFill>
                <a:latin typeface="Plus Jakarta Sans" pitchFamily="34" charset="0"/>
                <a:ea typeface="Plus Jakarta Sans" pitchFamily="34" charset="-122"/>
                <a:cs typeface="Plus Jakarta Sans" pitchFamily="34" charset="-120"/>
              </a:rPr>
              <a:t>We become the intelligence layer between people and rewards</a:t>
            </a:r>
            <a:endParaRPr lang="en-US" sz="1400" dirty="0"/>
          </a:p>
        </p:txBody>
      </p:sp>
      <p:sp>
        <p:nvSpPr>
          <p:cNvPr id="18" name="Text 15"/>
          <p:cNvSpPr/>
          <p:nvPr/>
        </p:nvSpPr>
        <p:spPr>
          <a:xfrm>
            <a:off x="7132320" y="3401568"/>
            <a:ext cx="4144975" cy="676656"/>
          </a:xfrm>
          <a:prstGeom prst="rect">
            <a:avLst/>
          </a:prstGeom>
          <a:noFill/>
          <a:ln/>
        </p:spPr>
        <p:txBody>
          <a:bodyPr wrap="square" lIns="0" tIns="0" rIns="0" bIns="0" rtlCol="0" anchor="ctr"/>
          <a:lstStyle/>
          <a:p>
            <a:pPr indent="0" marL="0">
              <a:buNone/>
            </a:pPr>
            <a:r>
              <a:rPr lang="en-US" sz="1200" dirty="0">
                <a:solidFill>
                  <a:srgbClr val="6B6B6B"/>
                </a:solidFill>
                <a:latin typeface="Plus Jakarta Sans" pitchFamily="34" charset="0"/>
                <a:ea typeface="Plus Jakarta Sans" pitchFamily="34" charset="-122"/>
                <a:cs typeface="Plus Jakarta Sans" pitchFamily="34" charset="-120"/>
              </a:rPr>
              <a:t>Different company. Different hires, different investors.</a:t>
            </a:r>
            <a:endParaRPr lang="en-US" sz="1200" dirty="0"/>
          </a:p>
        </p:txBody>
      </p:sp>
      <p:sp>
        <p:nvSpPr>
          <p:cNvPr id="19" name="Shape 16"/>
          <p:cNvSpPr/>
          <p:nvPr/>
        </p:nvSpPr>
        <p:spPr>
          <a:xfrm>
            <a:off x="731520" y="4187952"/>
            <a:ext cx="10728655" cy="676656"/>
          </a:xfrm>
          <a:prstGeom prst="roundRect">
            <a:avLst>
              <a:gd name="adj" fmla="val 8108"/>
            </a:avLst>
          </a:prstGeom>
          <a:solidFill>
            <a:srgbClr val="F7F3F9"/>
          </a:solidFill>
          <a:ln w="9525">
            <a:solidFill>
              <a:srgbClr val="D8D2DC"/>
            </a:solidFill>
            <a:prstDash val="solid"/>
          </a:ln>
        </p:spPr>
      </p:sp>
      <p:sp>
        <p:nvSpPr>
          <p:cNvPr id="20" name="Text 17"/>
          <p:cNvSpPr/>
          <p:nvPr/>
        </p:nvSpPr>
        <p:spPr>
          <a:xfrm>
            <a:off x="969264" y="4187952"/>
            <a:ext cx="457200" cy="676656"/>
          </a:xfrm>
          <a:prstGeom prst="rect">
            <a:avLst/>
          </a:prstGeom>
          <a:noFill/>
          <a:ln/>
        </p:spPr>
        <p:txBody>
          <a:bodyPr wrap="square" lIns="0" tIns="0" rIns="0" bIns="0" rtlCol="0" anchor="ctr"/>
          <a:lstStyle/>
          <a:p>
            <a:pPr indent="0" marL="0">
              <a:buNone/>
            </a:pPr>
            <a:r>
              <a:rPr lang="en-US" sz="2200" b="1" dirty="0">
                <a:solidFill>
                  <a:srgbClr val="01A2FB"/>
                </a:solidFill>
                <a:latin typeface="Plus Jakarta Sans" pitchFamily="34" charset="0"/>
                <a:ea typeface="Plus Jakarta Sans" pitchFamily="34" charset="-122"/>
                <a:cs typeface="Plus Jakarta Sans" pitchFamily="34" charset="-120"/>
              </a:rPr>
              <a:t>4</a:t>
            </a:r>
            <a:endParaRPr lang="en-US" sz="2200" dirty="0"/>
          </a:p>
        </p:txBody>
      </p:sp>
      <p:sp>
        <p:nvSpPr>
          <p:cNvPr id="21" name="Text 18"/>
          <p:cNvSpPr/>
          <p:nvPr/>
        </p:nvSpPr>
        <p:spPr>
          <a:xfrm>
            <a:off x="1554480" y="4187952"/>
            <a:ext cx="5486400" cy="676656"/>
          </a:xfrm>
          <a:prstGeom prst="rect">
            <a:avLst/>
          </a:prstGeom>
          <a:noFill/>
          <a:ln/>
        </p:spPr>
        <p:txBody>
          <a:bodyPr wrap="square" lIns="0" tIns="0" rIns="0" bIns="0" rtlCol="0" anchor="ctr"/>
          <a:lstStyle/>
          <a:p>
            <a:pPr indent="0" marL="0">
              <a:buNone/>
            </a:pPr>
            <a:r>
              <a:rPr lang="en-US" sz="1400" b="1" dirty="0">
                <a:solidFill>
                  <a:srgbClr val="000000"/>
                </a:solidFill>
                <a:latin typeface="Plus Jakarta Sans" pitchFamily="34" charset="0"/>
                <a:ea typeface="Plus Jakarta Sans" pitchFamily="34" charset="-122"/>
                <a:cs typeface="Plus Jakarta Sans" pitchFamily="34" charset="-120"/>
              </a:rPr>
              <a:t>Without AI there is no company</a:t>
            </a:r>
            <a:endParaRPr lang="en-US" sz="1400" dirty="0"/>
          </a:p>
        </p:txBody>
      </p:sp>
      <p:sp>
        <p:nvSpPr>
          <p:cNvPr id="22" name="Text 19"/>
          <p:cNvSpPr/>
          <p:nvPr/>
        </p:nvSpPr>
        <p:spPr>
          <a:xfrm>
            <a:off x="7132320" y="4187952"/>
            <a:ext cx="4144975" cy="676656"/>
          </a:xfrm>
          <a:prstGeom prst="rect">
            <a:avLst/>
          </a:prstGeom>
          <a:noFill/>
          <a:ln/>
        </p:spPr>
        <p:txBody>
          <a:bodyPr wrap="square" lIns="0" tIns="0" rIns="0" bIns="0" rtlCol="0" anchor="ctr"/>
          <a:lstStyle/>
          <a:p>
            <a:pPr indent="0" marL="0">
              <a:buNone/>
            </a:pPr>
            <a:r>
              <a:rPr lang="en-US" sz="1200" dirty="0">
                <a:solidFill>
                  <a:srgbClr val="6B6B6B"/>
                </a:solidFill>
                <a:latin typeface="Plus Jakarta Sans" pitchFamily="34" charset="0"/>
                <a:ea typeface="Plus Jakarta Sans" pitchFamily="34" charset="-122"/>
                <a:cs typeface="Plus Jakarta Sans" pitchFamily="34" charset="-120"/>
              </a:rPr>
              <a:t>Highest ceiling. Highest capital need. Highest risk.</a:t>
            </a:r>
            <a:endParaRPr lang="en-US" sz="1200" dirty="0"/>
          </a:p>
        </p:txBody>
      </p:sp>
      <p:sp>
        <p:nvSpPr>
          <p:cNvPr id="23" name="Shape 20"/>
          <p:cNvSpPr/>
          <p:nvPr/>
        </p:nvSpPr>
        <p:spPr>
          <a:xfrm>
            <a:off x="731520" y="5074920"/>
            <a:ext cx="10728655" cy="1266444"/>
          </a:xfrm>
          <a:prstGeom prst="roundRect">
            <a:avLst>
              <a:gd name="adj" fmla="val 5054"/>
            </a:avLst>
          </a:prstGeom>
          <a:solidFill>
            <a:srgbClr val="FFE878"/>
          </a:solidFill>
          <a:ln w="12700">
            <a:solidFill>
              <a:srgbClr val="FFE878"/>
            </a:solidFill>
            <a:prstDash val="solid"/>
          </a:ln>
        </p:spPr>
      </p:sp>
      <p:sp>
        <p:nvSpPr>
          <p:cNvPr id="24" name="Text 21"/>
          <p:cNvSpPr/>
          <p:nvPr/>
        </p:nvSpPr>
        <p:spPr>
          <a:xfrm>
            <a:off x="987552" y="5193792"/>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25" name="Text 22"/>
          <p:cNvSpPr/>
          <p:nvPr/>
        </p:nvSpPr>
        <p:spPr>
          <a:xfrm>
            <a:off x="1005840" y="5440680"/>
            <a:ext cx="10180015" cy="809244"/>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Each of us picks a level, privately, then reveals. If we pick different numbers, that is the biggest disagreement we have — and everything downstream inherits it.</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What is defensible once the models are a commodity? If the honest answer is “nothing”, our moat is data and habit, not AI.</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MOAT</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What we'd still have if someone copied us</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15</a:t>
            </a:r>
            <a:endParaRPr lang="en-US" sz="850" dirty="0"/>
          </a:p>
        </p:txBody>
      </p:sp>
      <p:sp>
        <p:nvSpPr>
          <p:cNvPr id="7" name="Text 4"/>
          <p:cNvSpPr/>
          <p:nvPr/>
        </p:nvSpPr>
        <p:spPr>
          <a:xfrm>
            <a:off x="731520" y="1517904"/>
            <a:ext cx="3200400" cy="548640"/>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Data that compounds</a:t>
            </a:r>
            <a:endParaRPr lang="en-US" sz="1500" dirty="0"/>
          </a:p>
        </p:txBody>
      </p:sp>
      <p:sp>
        <p:nvSpPr>
          <p:cNvPr id="8" name="Text 5"/>
          <p:cNvSpPr/>
          <p:nvPr/>
        </p:nvSpPr>
        <p:spPr>
          <a:xfrm>
            <a:off x="4114800" y="1517904"/>
            <a:ext cx="7345375" cy="54864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Every purchase teaches us what a point is really worth. Gets better with time. Can't be bought.</a:t>
            </a:r>
            <a:endParaRPr lang="en-US" sz="1250" dirty="0"/>
          </a:p>
        </p:txBody>
      </p:sp>
      <p:sp>
        <p:nvSpPr>
          <p:cNvPr id="9" name="Shape 6"/>
          <p:cNvSpPr/>
          <p:nvPr/>
        </p:nvSpPr>
        <p:spPr>
          <a:xfrm>
            <a:off x="731520" y="2066544"/>
            <a:ext cx="10728655" cy="0"/>
          </a:xfrm>
          <a:prstGeom prst="line">
            <a:avLst/>
          </a:prstGeom>
          <a:noFill/>
          <a:ln w="9525">
            <a:solidFill>
              <a:srgbClr val="D8D2DC"/>
            </a:solidFill>
            <a:prstDash val="solid"/>
          </a:ln>
        </p:spPr>
      </p:sp>
      <p:sp>
        <p:nvSpPr>
          <p:cNvPr id="10" name="Text 7"/>
          <p:cNvSpPr/>
          <p:nvPr/>
        </p:nvSpPr>
        <p:spPr>
          <a:xfrm>
            <a:off x="731520" y="2121408"/>
            <a:ext cx="3200400" cy="548640"/>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Habit</a:t>
            </a:r>
            <a:endParaRPr lang="en-US" sz="1500" dirty="0"/>
          </a:p>
        </p:txBody>
      </p:sp>
      <p:sp>
        <p:nvSpPr>
          <p:cNvPr id="11" name="Text 8"/>
          <p:cNvSpPr/>
          <p:nvPr/>
        </p:nvSpPr>
        <p:spPr>
          <a:xfrm>
            <a:off x="4114800" y="2121408"/>
            <a:ext cx="7345375" cy="54864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If we're the check-before-you-buy app, we're hard to remove.</a:t>
            </a:r>
            <a:endParaRPr lang="en-US" sz="1250" dirty="0"/>
          </a:p>
        </p:txBody>
      </p:sp>
      <p:sp>
        <p:nvSpPr>
          <p:cNvPr id="12" name="Shape 9"/>
          <p:cNvSpPr/>
          <p:nvPr/>
        </p:nvSpPr>
        <p:spPr>
          <a:xfrm>
            <a:off x="731520" y="2670048"/>
            <a:ext cx="10728655" cy="0"/>
          </a:xfrm>
          <a:prstGeom prst="line">
            <a:avLst/>
          </a:prstGeom>
          <a:noFill/>
          <a:ln w="9525">
            <a:solidFill>
              <a:srgbClr val="D8D2DC"/>
            </a:solidFill>
            <a:prstDash val="solid"/>
          </a:ln>
        </p:spPr>
      </p:sp>
      <p:sp>
        <p:nvSpPr>
          <p:cNvPr id="13" name="Text 10"/>
          <p:cNvSpPr/>
          <p:nvPr/>
        </p:nvSpPr>
        <p:spPr>
          <a:xfrm>
            <a:off x="731520" y="2724912"/>
            <a:ext cx="3200400" cy="548640"/>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Brand integrations</a:t>
            </a:r>
            <a:endParaRPr lang="en-US" sz="1500" dirty="0"/>
          </a:p>
        </p:txBody>
      </p:sp>
      <p:sp>
        <p:nvSpPr>
          <p:cNvPr id="14" name="Text 11"/>
          <p:cNvSpPr/>
          <p:nvPr/>
        </p:nvSpPr>
        <p:spPr>
          <a:xfrm>
            <a:off x="4114800" y="2724912"/>
            <a:ext cx="7345375" cy="54864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Fifty API relationships are slow to build — which is exactly why they're slow to copy.</a:t>
            </a:r>
            <a:endParaRPr lang="en-US" sz="1250" dirty="0"/>
          </a:p>
        </p:txBody>
      </p:sp>
      <p:sp>
        <p:nvSpPr>
          <p:cNvPr id="15" name="Shape 12"/>
          <p:cNvSpPr/>
          <p:nvPr/>
        </p:nvSpPr>
        <p:spPr>
          <a:xfrm>
            <a:off x="731520" y="3273552"/>
            <a:ext cx="10728655" cy="0"/>
          </a:xfrm>
          <a:prstGeom prst="line">
            <a:avLst/>
          </a:prstGeom>
          <a:noFill/>
          <a:ln w="9525">
            <a:solidFill>
              <a:srgbClr val="D8D2DC"/>
            </a:solidFill>
            <a:prstDash val="solid"/>
          </a:ln>
        </p:spPr>
      </p:sp>
      <p:sp>
        <p:nvSpPr>
          <p:cNvPr id="16" name="Text 13"/>
          <p:cNvSpPr/>
          <p:nvPr/>
        </p:nvSpPr>
        <p:spPr>
          <a:xfrm>
            <a:off x="731520" y="3328416"/>
            <a:ext cx="3200400" cy="548640"/>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Redemption liquidity</a:t>
            </a:r>
            <a:endParaRPr lang="en-US" sz="1500" dirty="0"/>
          </a:p>
        </p:txBody>
      </p:sp>
      <p:sp>
        <p:nvSpPr>
          <p:cNvPr id="17" name="Text 14"/>
          <p:cNvSpPr/>
          <p:nvPr/>
        </p:nvSpPr>
        <p:spPr>
          <a:xfrm>
            <a:off x="4114800" y="3328416"/>
            <a:ext cx="7345375" cy="54864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The more ways to use points, the more reason to stay.</a:t>
            </a:r>
            <a:endParaRPr lang="en-US" sz="1250" dirty="0"/>
          </a:p>
        </p:txBody>
      </p:sp>
      <p:sp>
        <p:nvSpPr>
          <p:cNvPr id="18" name="Shape 15"/>
          <p:cNvSpPr/>
          <p:nvPr/>
        </p:nvSpPr>
        <p:spPr>
          <a:xfrm>
            <a:off x="731520" y="3877056"/>
            <a:ext cx="10728655" cy="0"/>
          </a:xfrm>
          <a:prstGeom prst="line">
            <a:avLst/>
          </a:prstGeom>
          <a:noFill/>
          <a:ln w="9525">
            <a:solidFill>
              <a:srgbClr val="D8D2DC"/>
            </a:solidFill>
            <a:prstDash val="solid"/>
          </a:ln>
        </p:spPr>
      </p:sp>
      <p:sp>
        <p:nvSpPr>
          <p:cNvPr id="19" name="Text 16"/>
          <p:cNvSpPr/>
          <p:nvPr/>
        </p:nvSpPr>
        <p:spPr>
          <a:xfrm>
            <a:off x="731520" y="3931920"/>
            <a:ext cx="3200400" cy="548640"/>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Trust</a:t>
            </a:r>
            <a:endParaRPr lang="en-US" sz="1500" dirty="0"/>
          </a:p>
        </p:txBody>
      </p:sp>
      <p:sp>
        <p:nvSpPr>
          <p:cNvPr id="20" name="Text 17"/>
          <p:cNvSpPr/>
          <p:nvPr/>
        </p:nvSpPr>
        <p:spPr>
          <a:xfrm>
            <a:off x="4114800" y="3931920"/>
            <a:ext cx="7345375" cy="548640"/>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We handle financial data. Slow to earn, instant to lose.</a:t>
            </a:r>
            <a:endParaRPr lang="en-US" sz="1250" dirty="0"/>
          </a:p>
        </p:txBody>
      </p:sp>
      <p:sp>
        <p:nvSpPr>
          <p:cNvPr id="21" name="Shape 18"/>
          <p:cNvSpPr/>
          <p:nvPr/>
        </p:nvSpPr>
        <p:spPr>
          <a:xfrm>
            <a:off x="731520" y="4590288"/>
            <a:ext cx="10728655" cy="1627632"/>
          </a:xfrm>
          <a:prstGeom prst="roundRect">
            <a:avLst>
              <a:gd name="adj" fmla="val 3933"/>
            </a:avLst>
          </a:prstGeom>
          <a:solidFill>
            <a:srgbClr val="FFE878"/>
          </a:solidFill>
          <a:ln w="12700">
            <a:solidFill>
              <a:srgbClr val="FFE878"/>
            </a:solidFill>
            <a:prstDash val="solid"/>
          </a:ln>
        </p:spPr>
      </p:sp>
      <p:sp>
        <p:nvSpPr>
          <p:cNvPr id="22" name="Text 19"/>
          <p:cNvSpPr/>
          <p:nvPr/>
        </p:nvSpPr>
        <p:spPr>
          <a:xfrm>
            <a:off x="987552" y="4709160"/>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23" name="Text 20"/>
          <p:cNvSpPr/>
          <p:nvPr/>
        </p:nvSpPr>
        <p:spPr>
          <a:xfrm>
            <a:off x="1005840" y="4956048"/>
            <a:ext cx="10180015" cy="1170432"/>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Why can't a bank build this? They have the data and the customer.</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Why can't Google, Apple or Amazon? They have distribution and payments.</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Why can't an existing loyalty platform? They have the merchant relationships.</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Then pick ONE primary moat. A deck claiming five moats is claiming none.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THE FIELD</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Competition</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16</a:t>
            </a:r>
            <a:endParaRPr lang="en-US" sz="850" dirty="0"/>
          </a:p>
        </p:txBody>
      </p:sp>
      <p:sp>
        <p:nvSpPr>
          <p:cNvPr id="7" name="Text 4"/>
          <p:cNvSpPr/>
          <p:nvPr/>
        </p:nvSpPr>
        <p:spPr>
          <a:xfrm>
            <a:off x="731520" y="1499616"/>
            <a:ext cx="10728655" cy="304800"/>
          </a:xfrm>
          <a:prstGeom prst="rect">
            <a:avLst/>
          </a:prstGeom>
          <a:noFill/>
          <a:ln/>
        </p:spPr>
        <p:txBody>
          <a:bodyPr wrap="square" lIns="0" tIns="0" rIns="0" bIns="0" rtlCol="0" anchor="ctr"/>
          <a:lstStyle/>
          <a:p>
            <a:pPr indent="0" marL="0">
              <a:lnSpc>
                <a:spcPts val="2175"/>
              </a:lnSpc>
              <a:buNone/>
            </a:pPr>
            <a:r>
              <a:rPr lang="en-US" sz="1500" dirty="0">
                <a:solidFill>
                  <a:srgbClr val="000000"/>
                </a:solidFill>
                <a:latin typeface="Plus Jakarta Sans" pitchFamily="34" charset="0"/>
                <a:ea typeface="Plus Jakarta Sans" pitchFamily="34" charset="-122"/>
                <a:cs typeface="Plus Jakarta Sans" pitchFamily="34" charset="-120"/>
              </a:rPr>
              <a:t>I have nothing here and won't invent it. This is the slide investors use to test whether we actually know our market.</a:t>
            </a:r>
            <a:endParaRPr lang="en-US" sz="1500" dirty="0"/>
          </a:p>
        </p:txBody>
      </p:sp>
      <p:sp>
        <p:nvSpPr>
          <p:cNvPr id="8" name="Shape 5"/>
          <p:cNvSpPr/>
          <p:nvPr/>
        </p:nvSpPr>
        <p:spPr>
          <a:xfrm>
            <a:off x="731520" y="2023872"/>
            <a:ext cx="3320186" cy="713232"/>
          </a:xfrm>
          <a:prstGeom prst="roundRect">
            <a:avLst>
              <a:gd name="adj" fmla="val 7692"/>
            </a:avLst>
          </a:prstGeom>
          <a:solidFill>
            <a:srgbClr val="FFFFFF"/>
          </a:solidFill>
          <a:ln w="12700">
            <a:solidFill>
              <a:srgbClr val="D8D2DC"/>
            </a:solidFill>
            <a:prstDash val="solid"/>
          </a:ln>
        </p:spPr>
      </p:sp>
      <p:sp>
        <p:nvSpPr>
          <p:cNvPr id="9" name="Text 6"/>
          <p:cNvSpPr/>
          <p:nvPr/>
        </p:nvSpPr>
        <p:spPr>
          <a:xfrm>
            <a:off x="950976" y="2023872"/>
            <a:ext cx="2936138" cy="713232"/>
          </a:xfrm>
          <a:prstGeom prst="rect">
            <a:avLst/>
          </a:prstGeom>
          <a:noFill/>
          <a:ln/>
        </p:spPr>
        <p:txBody>
          <a:bodyPr wrap="square" lIns="0" tIns="0" rIns="0" bIns="0" rtlCol="0" anchor="ctr"/>
          <a:lstStyle/>
          <a:p>
            <a:pPr indent="0" marL="0">
              <a:buNone/>
            </a:pPr>
            <a:r>
              <a:rPr lang="en-US" sz="1350" b="1" dirty="0">
                <a:solidFill>
                  <a:srgbClr val="6B6B6B"/>
                </a:solidFill>
                <a:latin typeface="Plus Jakarta Sans" pitchFamily="34" charset="0"/>
                <a:ea typeface="Plus Jakarta Sans" pitchFamily="34" charset="-122"/>
                <a:cs typeface="Plus Jakarta Sans" pitchFamily="34" charset="-120"/>
              </a:rPr>
              <a:t>Loyalty aggregators</a:t>
            </a:r>
            <a:endParaRPr lang="en-US" sz="1350" dirty="0"/>
          </a:p>
        </p:txBody>
      </p:sp>
      <p:sp>
        <p:nvSpPr>
          <p:cNvPr id="10" name="Shape 7"/>
          <p:cNvSpPr/>
          <p:nvPr/>
        </p:nvSpPr>
        <p:spPr>
          <a:xfrm>
            <a:off x="4353458" y="2023872"/>
            <a:ext cx="3320186" cy="713232"/>
          </a:xfrm>
          <a:prstGeom prst="roundRect">
            <a:avLst>
              <a:gd name="adj" fmla="val 7692"/>
            </a:avLst>
          </a:prstGeom>
          <a:solidFill>
            <a:srgbClr val="FFFFFF"/>
          </a:solidFill>
          <a:ln w="12700">
            <a:solidFill>
              <a:srgbClr val="D8D2DC"/>
            </a:solidFill>
            <a:prstDash val="solid"/>
          </a:ln>
        </p:spPr>
      </p:sp>
      <p:sp>
        <p:nvSpPr>
          <p:cNvPr id="11" name="Text 8"/>
          <p:cNvSpPr/>
          <p:nvPr/>
        </p:nvSpPr>
        <p:spPr>
          <a:xfrm>
            <a:off x="4572914" y="2023872"/>
            <a:ext cx="2936138" cy="713232"/>
          </a:xfrm>
          <a:prstGeom prst="rect">
            <a:avLst/>
          </a:prstGeom>
          <a:noFill/>
          <a:ln/>
        </p:spPr>
        <p:txBody>
          <a:bodyPr wrap="square" lIns="0" tIns="0" rIns="0" bIns="0" rtlCol="0" anchor="ctr"/>
          <a:lstStyle/>
          <a:p>
            <a:pPr indent="0" marL="0">
              <a:buNone/>
            </a:pPr>
            <a:r>
              <a:rPr lang="en-US" sz="1350" b="1" dirty="0">
                <a:solidFill>
                  <a:srgbClr val="6B6B6B"/>
                </a:solidFill>
                <a:latin typeface="Plus Jakarta Sans" pitchFamily="34" charset="0"/>
                <a:ea typeface="Plus Jakarta Sans" pitchFamily="34" charset="-122"/>
                <a:cs typeface="Plus Jakarta Sans" pitchFamily="34" charset="-120"/>
              </a:rPr>
              <a:t>Cashback apps</a:t>
            </a:r>
            <a:endParaRPr lang="en-US" sz="1350" dirty="0"/>
          </a:p>
        </p:txBody>
      </p:sp>
      <p:sp>
        <p:nvSpPr>
          <p:cNvPr id="12" name="Shape 9"/>
          <p:cNvSpPr/>
          <p:nvPr/>
        </p:nvSpPr>
        <p:spPr>
          <a:xfrm>
            <a:off x="7975397" y="2023872"/>
            <a:ext cx="3320186" cy="713232"/>
          </a:xfrm>
          <a:prstGeom prst="roundRect">
            <a:avLst>
              <a:gd name="adj" fmla="val 7692"/>
            </a:avLst>
          </a:prstGeom>
          <a:solidFill>
            <a:srgbClr val="FFFFFF"/>
          </a:solidFill>
          <a:ln w="12700">
            <a:solidFill>
              <a:srgbClr val="D8D2DC"/>
            </a:solidFill>
            <a:prstDash val="solid"/>
          </a:ln>
        </p:spPr>
      </p:sp>
      <p:sp>
        <p:nvSpPr>
          <p:cNvPr id="13" name="Text 10"/>
          <p:cNvSpPr/>
          <p:nvPr/>
        </p:nvSpPr>
        <p:spPr>
          <a:xfrm>
            <a:off x="8194853" y="2023872"/>
            <a:ext cx="2936138" cy="713232"/>
          </a:xfrm>
          <a:prstGeom prst="rect">
            <a:avLst/>
          </a:prstGeom>
          <a:noFill/>
          <a:ln/>
        </p:spPr>
        <p:txBody>
          <a:bodyPr wrap="square" lIns="0" tIns="0" rIns="0" bIns="0" rtlCol="0" anchor="ctr"/>
          <a:lstStyle/>
          <a:p>
            <a:pPr indent="0" marL="0">
              <a:buNone/>
            </a:pPr>
            <a:r>
              <a:rPr lang="en-US" sz="1350" b="1" dirty="0">
                <a:solidFill>
                  <a:srgbClr val="6B6B6B"/>
                </a:solidFill>
                <a:latin typeface="Plus Jakarta Sans" pitchFamily="34" charset="0"/>
                <a:ea typeface="Plus Jakarta Sans" pitchFamily="34" charset="-122"/>
                <a:cs typeface="Plus Jakarta Sans" pitchFamily="34" charset="-120"/>
              </a:rPr>
              <a:t>Rewards platforms</a:t>
            </a:r>
            <a:endParaRPr lang="en-US" sz="1350" dirty="0"/>
          </a:p>
        </p:txBody>
      </p:sp>
      <p:sp>
        <p:nvSpPr>
          <p:cNvPr id="14" name="Shape 11"/>
          <p:cNvSpPr/>
          <p:nvPr/>
        </p:nvSpPr>
        <p:spPr>
          <a:xfrm>
            <a:off x="731520" y="2892552"/>
            <a:ext cx="3320186" cy="713232"/>
          </a:xfrm>
          <a:prstGeom prst="roundRect">
            <a:avLst>
              <a:gd name="adj" fmla="val 7692"/>
            </a:avLst>
          </a:prstGeom>
          <a:solidFill>
            <a:srgbClr val="FFFFFF"/>
          </a:solidFill>
          <a:ln w="12700">
            <a:solidFill>
              <a:srgbClr val="D8D2DC"/>
            </a:solidFill>
            <a:prstDash val="solid"/>
          </a:ln>
        </p:spPr>
      </p:sp>
      <p:sp>
        <p:nvSpPr>
          <p:cNvPr id="15" name="Text 12"/>
          <p:cNvSpPr/>
          <p:nvPr/>
        </p:nvSpPr>
        <p:spPr>
          <a:xfrm>
            <a:off x="950976" y="2892552"/>
            <a:ext cx="2936138" cy="713232"/>
          </a:xfrm>
          <a:prstGeom prst="rect">
            <a:avLst/>
          </a:prstGeom>
          <a:noFill/>
          <a:ln/>
        </p:spPr>
        <p:txBody>
          <a:bodyPr wrap="square" lIns="0" tIns="0" rIns="0" bIns="0" rtlCol="0" anchor="ctr"/>
          <a:lstStyle/>
          <a:p>
            <a:pPr indent="0" marL="0">
              <a:buNone/>
            </a:pPr>
            <a:r>
              <a:rPr lang="en-US" sz="1350" b="1" dirty="0">
                <a:solidFill>
                  <a:srgbClr val="6B6B6B"/>
                </a:solidFill>
                <a:latin typeface="Plus Jakarta Sans" pitchFamily="34" charset="0"/>
                <a:ea typeface="Plus Jakarta Sans" pitchFamily="34" charset="-122"/>
                <a:cs typeface="Plus Jakarta Sans" pitchFamily="34" charset="-120"/>
              </a:rPr>
              <a:t>Offers and deals</a:t>
            </a:r>
            <a:endParaRPr lang="en-US" sz="1350" dirty="0"/>
          </a:p>
        </p:txBody>
      </p:sp>
      <p:sp>
        <p:nvSpPr>
          <p:cNvPr id="16" name="Shape 13"/>
          <p:cNvSpPr/>
          <p:nvPr/>
        </p:nvSpPr>
        <p:spPr>
          <a:xfrm>
            <a:off x="4353458" y="2892552"/>
            <a:ext cx="3320186" cy="713232"/>
          </a:xfrm>
          <a:prstGeom prst="roundRect">
            <a:avLst>
              <a:gd name="adj" fmla="val 7692"/>
            </a:avLst>
          </a:prstGeom>
          <a:solidFill>
            <a:srgbClr val="FFFFFF"/>
          </a:solidFill>
          <a:ln w="12700">
            <a:solidFill>
              <a:srgbClr val="D8D2DC"/>
            </a:solidFill>
            <a:prstDash val="solid"/>
          </a:ln>
        </p:spPr>
      </p:sp>
      <p:sp>
        <p:nvSpPr>
          <p:cNvPr id="17" name="Text 14"/>
          <p:cNvSpPr/>
          <p:nvPr/>
        </p:nvSpPr>
        <p:spPr>
          <a:xfrm>
            <a:off x="4572914" y="2892552"/>
            <a:ext cx="2936138" cy="713232"/>
          </a:xfrm>
          <a:prstGeom prst="rect">
            <a:avLst/>
          </a:prstGeom>
          <a:noFill/>
          <a:ln/>
        </p:spPr>
        <p:txBody>
          <a:bodyPr wrap="square" lIns="0" tIns="0" rIns="0" bIns="0" rtlCol="0" anchor="ctr"/>
          <a:lstStyle/>
          <a:p>
            <a:pPr indent="0" marL="0">
              <a:buNone/>
            </a:pPr>
            <a:r>
              <a:rPr lang="en-US" sz="1350" b="1" dirty="0">
                <a:solidFill>
                  <a:srgbClr val="6B6B6B"/>
                </a:solidFill>
                <a:latin typeface="Plus Jakarta Sans" pitchFamily="34" charset="0"/>
                <a:ea typeface="Plus Jakarta Sans" pitchFamily="34" charset="-122"/>
                <a:cs typeface="Plus Jakarta Sans" pitchFamily="34" charset="-120"/>
              </a:rPr>
              <a:t>Fintech and money apps</a:t>
            </a:r>
            <a:endParaRPr lang="en-US" sz="1350" dirty="0"/>
          </a:p>
        </p:txBody>
      </p:sp>
      <p:sp>
        <p:nvSpPr>
          <p:cNvPr id="18" name="Shape 15"/>
          <p:cNvSpPr/>
          <p:nvPr/>
        </p:nvSpPr>
        <p:spPr>
          <a:xfrm>
            <a:off x="7975397" y="2892552"/>
            <a:ext cx="3320186" cy="713232"/>
          </a:xfrm>
          <a:prstGeom prst="roundRect">
            <a:avLst>
              <a:gd name="adj" fmla="val 7692"/>
            </a:avLst>
          </a:prstGeom>
          <a:solidFill>
            <a:srgbClr val="FFFFFF"/>
          </a:solidFill>
          <a:ln w="12700">
            <a:solidFill>
              <a:srgbClr val="D8D2DC"/>
            </a:solidFill>
            <a:prstDash val="solid"/>
          </a:ln>
        </p:spPr>
      </p:sp>
      <p:sp>
        <p:nvSpPr>
          <p:cNvPr id="19" name="Text 16"/>
          <p:cNvSpPr/>
          <p:nvPr/>
        </p:nvSpPr>
        <p:spPr>
          <a:xfrm>
            <a:off x="8194853" y="2892552"/>
            <a:ext cx="2936138" cy="713232"/>
          </a:xfrm>
          <a:prstGeom prst="rect">
            <a:avLst/>
          </a:prstGeom>
          <a:noFill/>
          <a:ln/>
        </p:spPr>
        <p:txBody>
          <a:bodyPr wrap="square" lIns="0" tIns="0" rIns="0" bIns="0" rtlCol="0" anchor="ctr"/>
          <a:lstStyle/>
          <a:p>
            <a:pPr indent="0" marL="0">
              <a:buNone/>
            </a:pPr>
            <a:r>
              <a:rPr lang="en-US" sz="1350" b="1" dirty="0">
                <a:solidFill>
                  <a:srgbClr val="6B6B6B"/>
                </a:solidFill>
                <a:latin typeface="Plus Jakarta Sans" pitchFamily="34" charset="0"/>
                <a:ea typeface="Plus Jakarta Sans" pitchFamily="34" charset="-122"/>
                <a:cs typeface="Plus Jakarta Sans" pitchFamily="34" charset="-120"/>
              </a:rPr>
              <a:t>B2B loyalty vendors</a:t>
            </a:r>
            <a:endParaRPr lang="en-US" sz="1350" dirty="0"/>
          </a:p>
        </p:txBody>
      </p:sp>
      <p:sp>
        <p:nvSpPr>
          <p:cNvPr id="20" name="Shape 17"/>
          <p:cNvSpPr/>
          <p:nvPr/>
        </p:nvSpPr>
        <p:spPr>
          <a:xfrm>
            <a:off x="731520" y="3898392"/>
            <a:ext cx="10728655" cy="1051560"/>
          </a:xfrm>
          <a:prstGeom prst="roundRect">
            <a:avLst>
              <a:gd name="adj" fmla="val 6087"/>
            </a:avLst>
          </a:prstGeom>
          <a:solidFill>
            <a:srgbClr val="FFE878"/>
          </a:solidFill>
          <a:ln w="12700">
            <a:solidFill>
              <a:srgbClr val="FFE878"/>
            </a:solidFill>
            <a:prstDash val="solid"/>
          </a:ln>
        </p:spPr>
      </p:sp>
      <p:sp>
        <p:nvSpPr>
          <p:cNvPr id="21" name="Text 18"/>
          <p:cNvSpPr/>
          <p:nvPr/>
        </p:nvSpPr>
        <p:spPr>
          <a:xfrm>
            <a:off x="987552" y="4017264"/>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22" name="Text 19"/>
          <p:cNvSpPr/>
          <p:nvPr/>
        </p:nvSpPr>
        <p:spPr>
          <a:xfrm>
            <a:off x="1005840" y="4264152"/>
            <a:ext cx="10180015" cy="594360"/>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For each category: who plays here, what they do better than us, and where the gap is.</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Founder input required — this one can't be written by anyone but us.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WHAT WE'RE BUILDING</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Seven versions of us. We have to pick.</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17</a:t>
            </a:r>
            <a:endParaRPr lang="en-US" sz="850" dirty="0"/>
          </a:p>
        </p:txBody>
      </p:sp>
      <p:sp>
        <p:nvSpPr>
          <p:cNvPr id="7" name="Shape 4"/>
          <p:cNvSpPr/>
          <p:nvPr/>
        </p:nvSpPr>
        <p:spPr>
          <a:xfrm>
            <a:off x="731520" y="1517904"/>
            <a:ext cx="5227168" cy="548640"/>
          </a:xfrm>
          <a:prstGeom prst="roundRect">
            <a:avLst>
              <a:gd name="adj" fmla="val 10000"/>
            </a:avLst>
          </a:prstGeom>
          <a:solidFill>
            <a:srgbClr val="F7F3F9"/>
          </a:solidFill>
          <a:ln w="9525">
            <a:solidFill>
              <a:srgbClr val="D8D2DC"/>
            </a:solidFill>
            <a:prstDash val="solid"/>
          </a:ln>
        </p:spPr>
      </p:sp>
      <p:sp>
        <p:nvSpPr>
          <p:cNvPr id="8" name="Text 5"/>
          <p:cNvSpPr/>
          <p:nvPr/>
        </p:nvSpPr>
        <p:spPr>
          <a:xfrm>
            <a:off x="969264" y="1517904"/>
            <a:ext cx="4907128" cy="548640"/>
          </a:xfrm>
          <a:prstGeom prst="rect">
            <a:avLst/>
          </a:prstGeom>
          <a:noFill/>
          <a:ln/>
        </p:spPr>
        <p:txBody>
          <a:bodyPr wrap="square" lIns="0" tIns="0" rIns="0" bIns="0" rtlCol="0" anchor="ctr"/>
          <a:lstStyle/>
          <a:p>
            <a:pPr indent="0" marL="0">
              <a:buNone/>
            </a:pPr>
            <a:r>
              <a:rPr lang="en-US" sz="1350" b="1" dirty="0">
                <a:solidFill>
                  <a:srgbClr val="000000"/>
                </a:solidFill>
                <a:latin typeface="Plus Jakarta Sans" pitchFamily="34" charset="0"/>
                <a:ea typeface="Plus Jakarta Sans" pitchFamily="34" charset="-122"/>
                <a:cs typeface="Plus Jakarta Sans" pitchFamily="34" charset="-120"/>
              </a:rPr>
              <a:t>1   A loyalty aggregation app</a:t>
            </a:r>
            <a:endParaRPr lang="en-US" sz="1350" dirty="0"/>
          </a:p>
        </p:txBody>
      </p:sp>
      <p:sp>
        <p:nvSpPr>
          <p:cNvPr id="9" name="Shape 6"/>
          <p:cNvSpPr/>
          <p:nvPr/>
        </p:nvSpPr>
        <p:spPr>
          <a:xfrm>
            <a:off x="6233008" y="1517904"/>
            <a:ext cx="5227168" cy="548640"/>
          </a:xfrm>
          <a:prstGeom prst="roundRect">
            <a:avLst>
              <a:gd name="adj" fmla="val 10000"/>
            </a:avLst>
          </a:prstGeom>
          <a:solidFill>
            <a:srgbClr val="F7F3F9"/>
          </a:solidFill>
          <a:ln w="9525">
            <a:solidFill>
              <a:srgbClr val="D8D2DC"/>
            </a:solidFill>
            <a:prstDash val="solid"/>
          </a:ln>
        </p:spPr>
      </p:sp>
      <p:sp>
        <p:nvSpPr>
          <p:cNvPr id="10" name="Text 7"/>
          <p:cNvSpPr/>
          <p:nvPr/>
        </p:nvSpPr>
        <p:spPr>
          <a:xfrm>
            <a:off x="6470752" y="1517904"/>
            <a:ext cx="4907128" cy="548640"/>
          </a:xfrm>
          <a:prstGeom prst="rect">
            <a:avLst/>
          </a:prstGeom>
          <a:noFill/>
          <a:ln/>
        </p:spPr>
        <p:txBody>
          <a:bodyPr wrap="square" lIns="0" tIns="0" rIns="0" bIns="0" rtlCol="0" anchor="ctr"/>
          <a:lstStyle/>
          <a:p>
            <a:pPr indent="0" marL="0">
              <a:buNone/>
            </a:pPr>
            <a:r>
              <a:rPr lang="en-US" sz="1350" b="1" dirty="0">
                <a:solidFill>
                  <a:srgbClr val="000000"/>
                </a:solidFill>
                <a:latin typeface="Plus Jakarta Sans" pitchFamily="34" charset="0"/>
                <a:ea typeface="Plus Jakarta Sans" pitchFamily="34" charset="-122"/>
                <a:cs typeface="Plus Jakarta Sans" pitchFamily="34" charset="-120"/>
              </a:rPr>
              <a:t>2   A consumer rewards platform</a:t>
            </a:r>
            <a:endParaRPr lang="en-US" sz="1350" dirty="0"/>
          </a:p>
        </p:txBody>
      </p:sp>
      <p:sp>
        <p:nvSpPr>
          <p:cNvPr id="11" name="Shape 8"/>
          <p:cNvSpPr/>
          <p:nvPr/>
        </p:nvSpPr>
        <p:spPr>
          <a:xfrm>
            <a:off x="731520" y="2139696"/>
            <a:ext cx="5227168" cy="548640"/>
          </a:xfrm>
          <a:prstGeom prst="roundRect">
            <a:avLst>
              <a:gd name="adj" fmla="val 10000"/>
            </a:avLst>
          </a:prstGeom>
          <a:solidFill>
            <a:srgbClr val="F7F3F9"/>
          </a:solidFill>
          <a:ln w="9525">
            <a:solidFill>
              <a:srgbClr val="D8D2DC"/>
            </a:solidFill>
            <a:prstDash val="solid"/>
          </a:ln>
        </p:spPr>
      </p:sp>
      <p:sp>
        <p:nvSpPr>
          <p:cNvPr id="12" name="Text 9"/>
          <p:cNvSpPr/>
          <p:nvPr/>
        </p:nvSpPr>
        <p:spPr>
          <a:xfrm>
            <a:off x="969264" y="2139696"/>
            <a:ext cx="4907128" cy="548640"/>
          </a:xfrm>
          <a:prstGeom prst="rect">
            <a:avLst/>
          </a:prstGeom>
          <a:noFill/>
          <a:ln/>
        </p:spPr>
        <p:txBody>
          <a:bodyPr wrap="square" lIns="0" tIns="0" rIns="0" bIns="0" rtlCol="0" anchor="ctr"/>
          <a:lstStyle/>
          <a:p>
            <a:pPr indent="0" marL="0">
              <a:buNone/>
            </a:pPr>
            <a:r>
              <a:rPr lang="en-US" sz="1350" b="1" dirty="0">
                <a:solidFill>
                  <a:srgbClr val="000000"/>
                </a:solidFill>
                <a:latin typeface="Plus Jakarta Sans" pitchFamily="34" charset="0"/>
                <a:ea typeface="Plus Jakarta Sans" pitchFamily="34" charset="-122"/>
                <a:cs typeface="Plus Jakarta Sans" pitchFamily="34" charset="-120"/>
              </a:rPr>
              <a:t>3   B2B loyalty infrastructure</a:t>
            </a:r>
            <a:endParaRPr lang="en-US" sz="1350" dirty="0"/>
          </a:p>
        </p:txBody>
      </p:sp>
      <p:sp>
        <p:nvSpPr>
          <p:cNvPr id="13" name="Shape 10"/>
          <p:cNvSpPr/>
          <p:nvPr/>
        </p:nvSpPr>
        <p:spPr>
          <a:xfrm>
            <a:off x="6233008" y="2139696"/>
            <a:ext cx="5227168" cy="548640"/>
          </a:xfrm>
          <a:prstGeom prst="roundRect">
            <a:avLst>
              <a:gd name="adj" fmla="val 10000"/>
            </a:avLst>
          </a:prstGeom>
          <a:solidFill>
            <a:srgbClr val="F7F3F9"/>
          </a:solidFill>
          <a:ln w="9525">
            <a:solidFill>
              <a:srgbClr val="D8D2DC"/>
            </a:solidFill>
            <a:prstDash val="solid"/>
          </a:ln>
        </p:spPr>
      </p:sp>
      <p:sp>
        <p:nvSpPr>
          <p:cNvPr id="14" name="Text 11"/>
          <p:cNvSpPr/>
          <p:nvPr/>
        </p:nvSpPr>
        <p:spPr>
          <a:xfrm>
            <a:off x="6470752" y="2139696"/>
            <a:ext cx="4907128" cy="548640"/>
          </a:xfrm>
          <a:prstGeom prst="rect">
            <a:avLst/>
          </a:prstGeom>
          <a:noFill/>
          <a:ln/>
        </p:spPr>
        <p:txBody>
          <a:bodyPr wrap="square" lIns="0" tIns="0" rIns="0" bIns="0" rtlCol="0" anchor="ctr"/>
          <a:lstStyle/>
          <a:p>
            <a:pPr indent="0" marL="0">
              <a:buNone/>
            </a:pPr>
            <a:r>
              <a:rPr lang="en-US" sz="1350" b="1" dirty="0">
                <a:solidFill>
                  <a:srgbClr val="000000"/>
                </a:solidFill>
                <a:latin typeface="Plus Jakarta Sans" pitchFamily="34" charset="0"/>
                <a:ea typeface="Plus Jakarta Sans" pitchFamily="34" charset="-122"/>
                <a:cs typeface="Plus Jakarta Sans" pitchFamily="34" charset="-120"/>
              </a:rPr>
              <a:t>4   A B2B2C rewards ecosystem</a:t>
            </a:r>
            <a:endParaRPr lang="en-US" sz="1350" dirty="0"/>
          </a:p>
        </p:txBody>
      </p:sp>
      <p:sp>
        <p:nvSpPr>
          <p:cNvPr id="15" name="Shape 12"/>
          <p:cNvSpPr/>
          <p:nvPr/>
        </p:nvSpPr>
        <p:spPr>
          <a:xfrm>
            <a:off x="731520" y="2761488"/>
            <a:ext cx="5227168" cy="548640"/>
          </a:xfrm>
          <a:prstGeom prst="roundRect">
            <a:avLst>
              <a:gd name="adj" fmla="val 10000"/>
            </a:avLst>
          </a:prstGeom>
          <a:solidFill>
            <a:srgbClr val="F7F3F9"/>
          </a:solidFill>
          <a:ln w="9525">
            <a:solidFill>
              <a:srgbClr val="D8D2DC"/>
            </a:solidFill>
            <a:prstDash val="solid"/>
          </a:ln>
        </p:spPr>
      </p:sp>
      <p:sp>
        <p:nvSpPr>
          <p:cNvPr id="16" name="Text 13"/>
          <p:cNvSpPr/>
          <p:nvPr/>
        </p:nvSpPr>
        <p:spPr>
          <a:xfrm>
            <a:off x="969264" y="2761488"/>
            <a:ext cx="4907128" cy="548640"/>
          </a:xfrm>
          <a:prstGeom prst="rect">
            <a:avLst/>
          </a:prstGeom>
          <a:noFill/>
          <a:ln/>
        </p:spPr>
        <p:txBody>
          <a:bodyPr wrap="square" lIns="0" tIns="0" rIns="0" bIns="0" rtlCol="0" anchor="ctr"/>
          <a:lstStyle/>
          <a:p>
            <a:pPr indent="0" marL="0">
              <a:buNone/>
            </a:pPr>
            <a:r>
              <a:rPr lang="en-US" sz="1350" b="1" dirty="0">
                <a:solidFill>
                  <a:srgbClr val="000000"/>
                </a:solidFill>
                <a:latin typeface="Plus Jakarta Sans" pitchFamily="34" charset="0"/>
                <a:ea typeface="Plus Jakarta Sans" pitchFamily="34" charset="-122"/>
                <a:cs typeface="Plus Jakarta Sans" pitchFamily="34" charset="-120"/>
              </a:rPr>
              <a:t>5   An AI rewards intelligence platform</a:t>
            </a:r>
            <a:endParaRPr lang="en-US" sz="1350" dirty="0"/>
          </a:p>
        </p:txBody>
      </p:sp>
      <p:sp>
        <p:nvSpPr>
          <p:cNvPr id="17" name="Shape 14"/>
          <p:cNvSpPr/>
          <p:nvPr/>
        </p:nvSpPr>
        <p:spPr>
          <a:xfrm>
            <a:off x="6233008" y="2761488"/>
            <a:ext cx="5227168" cy="548640"/>
          </a:xfrm>
          <a:prstGeom prst="roundRect">
            <a:avLst>
              <a:gd name="adj" fmla="val 10000"/>
            </a:avLst>
          </a:prstGeom>
          <a:solidFill>
            <a:srgbClr val="F7F3F9"/>
          </a:solidFill>
          <a:ln w="9525">
            <a:solidFill>
              <a:srgbClr val="D8D2DC"/>
            </a:solidFill>
            <a:prstDash val="solid"/>
          </a:ln>
        </p:spPr>
      </p:sp>
      <p:sp>
        <p:nvSpPr>
          <p:cNvPr id="18" name="Text 15"/>
          <p:cNvSpPr/>
          <p:nvPr/>
        </p:nvSpPr>
        <p:spPr>
          <a:xfrm>
            <a:off x="6470752" y="2761488"/>
            <a:ext cx="4907128" cy="548640"/>
          </a:xfrm>
          <a:prstGeom prst="rect">
            <a:avLst/>
          </a:prstGeom>
          <a:noFill/>
          <a:ln/>
        </p:spPr>
        <p:txBody>
          <a:bodyPr wrap="square" lIns="0" tIns="0" rIns="0" bIns="0" rtlCol="0" anchor="ctr"/>
          <a:lstStyle/>
          <a:p>
            <a:pPr indent="0" marL="0">
              <a:buNone/>
            </a:pPr>
            <a:r>
              <a:rPr lang="en-US" sz="1350" b="1" dirty="0">
                <a:solidFill>
                  <a:srgbClr val="000000"/>
                </a:solidFill>
                <a:latin typeface="Plus Jakarta Sans" pitchFamily="34" charset="0"/>
                <a:ea typeface="Plus Jakarta Sans" pitchFamily="34" charset="-122"/>
                <a:cs typeface="Plus Jakarta Sans" pitchFamily="34" charset="-120"/>
              </a:rPr>
              <a:t>6   A global rewards currency</a:t>
            </a:r>
            <a:endParaRPr lang="en-US" sz="1350" dirty="0"/>
          </a:p>
        </p:txBody>
      </p:sp>
      <p:sp>
        <p:nvSpPr>
          <p:cNvPr id="19" name="Shape 16"/>
          <p:cNvSpPr/>
          <p:nvPr/>
        </p:nvSpPr>
        <p:spPr>
          <a:xfrm>
            <a:off x="731520" y="3383280"/>
            <a:ext cx="5227168" cy="548640"/>
          </a:xfrm>
          <a:prstGeom prst="roundRect">
            <a:avLst>
              <a:gd name="adj" fmla="val 10000"/>
            </a:avLst>
          </a:prstGeom>
          <a:solidFill>
            <a:srgbClr val="F7F3F9"/>
          </a:solidFill>
          <a:ln w="9525">
            <a:solidFill>
              <a:srgbClr val="D8D2DC"/>
            </a:solidFill>
            <a:prstDash val="solid"/>
          </a:ln>
        </p:spPr>
      </p:sp>
      <p:sp>
        <p:nvSpPr>
          <p:cNvPr id="20" name="Text 17"/>
          <p:cNvSpPr/>
          <p:nvPr/>
        </p:nvSpPr>
        <p:spPr>
          <a:xfrm>
            <a:off x="969264" y="3383280"/>
            <a:ext cx="4907128" cy="548640"/>
          </a:xfrm>
          <a:prstGeom prst="rect">
            <a:avLst/>
          </a:prstGeom>
          <a:noFill/>
          <a:ln/>
        </p:spPr>
        <p:txBody>
          <a:bodyPr wrap="square" lIns="0" tIns="0" rIns="0" bIns="0" rtlCol="0" anchor="ctr"/>
          <a:lstStyle/>
          <a:p>
            <a:pPr indent="0" marL="0">
              <a:buNone/>
            </a:pPr>
            <a:r>
              <a:rPr lang="en-US" sz="1350" b="1" dirty="0">
                <a:solidFill>
                  <a:srgbClr val="000000"/>
                </a:solidFill>
                <a:latin typeface="Plus Jakarta Sans" pitchFamily="34" charset="0"/>
                <a:ea typeface="Plus Jakarta Sans" pitchFamily="34" charset="-122"/>
                <a:cs typeface="Plus Jakarta Sans" pitchFamily="34" charset="-120"/>
              </a:rPr>
              <a:t>7   Some sequence of the above</a:t>
            </a:r>
            <a:endParaRPr lang="en-US" sz="1350" dirty="0"/>
          </a:p>
        </p:txBody>
      </p:sp>
      <p:sp>
        <p:nvSpPr>
          <p:cNvPr id="21" name="Text 18"/>
          <p:cNvSpPr/>
          <p:nvPr/>
        </p:nvSpPr>
        <p:spPr>
          <a:xfrm>
            <a:off x="731520" y="4133088"/>
            <a:ext cx="10728655" cy="603504"/>
          </a:xfrm>
          <a:prstGeom prst="rect">
            <a:avLst/>
          </a:prstGeom>
          <a:noFill/>
          <a:ln/>
        </p:spPr>
        <p:txBody>
          <a:bodyPr wrap="square" lIns="0" tIns="0" rIns="0" bIns="0" rtlCol="0" anchor="ctr"/>
          <a:lstStyle/>
          <a:p>
            <a:pPr indent="0" marL="0">
              <a:lnSpc>
                <a:spcPts val="2000"/>
              </a:lnSpc>
              <a:buNone/>
            </a:pPr>
            <a:r>
              <a:rPr lang="en-US" sz="1400" i="1" dirty="0">
                <a:solidFill>
                  <a:srgbClr val="6B6B6B"/>
                </a:solidFill>
                <a:latin typeface="Plus Jakarta Sans" pitchFamily="34" charset="0"/>
                <a:ea typeface="Plus Jakarta Sans" pitchFamily="34" charset="-122"/>
                <a:cs typeface="Plus Jakarta Sans" pitchFamily="34" charset="-120"/>
              </a:rPr>
              <a:t>My read, for you to attack: 5 and 6 aren't starting points. They're what you earn by doing 2 or 3 well. The question isn't which one — it's which one first, and what that buys us.</a:t>
            </a:r>
            <a:endParaRPr lang="en-US" sz="1400" dirty="0"/>
          </a:p>
        </p:txBody>
      </p:sp>
      <p:sp>
        <p:nvSpPr>
          <p:cNvPr id="22" name="Shape 19"/>
          <p:cNvSpPr/>
          <p:nvPr/>
        </p:nvSpPr>
        <p:spPr>
          <a:xfrm>
            <a:off x="731520" y="4791456"/>
            <a:ext cx="10728655" cy="1339596"/>
          </a:xfrm>
          <a:prstGeom prst="roundRect">
            <a:avLst>
              <a:gd name="adj" fmla="val 4778"/>
            </a:avLst>
          </a:prstGeom>
          <a:solidFill>
            <a:srgbClr val="FFE878"/>
          </a:solidFill>
          <a:ln w="12700">
            <a:solidFill>
              <a:srgbClr val="FFE878"/>
            </a:solidFill>
            <a:prstDash val="solid"/>
          </a:ln>
        </p:spPr>
      </p:sp>
      <p:sp>
        <p:nvSpPr>
          <p:cNvPr id="23" name="Text 20"/>
          <p:cNvSpPr/>
          <p:nvPr/>
        </p:nvSpPr>
        <p:spPr>
          <a:xfrm>
            <a:off x="987552" y="4910328"/>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24" name="Text 21"/>
          <p:cNvSpPr/>
          <p:nvPr/>
        </p:nvSpPr>
        <p:spPr>
          <a:xfrm>
            <a:off x="1005840" y="5157216"/>
            <a:ext cx="10180015" cy="882396"/>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Which one can three people actually start this year?</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Which has a customer who'll pay within six months?</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Which are we drawn to because it's right, versus because it sounds impressive?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LONG-TERM HYPOTHESIS</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The long game: PointzPlus Coin</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18</a:t>
            </a:r>
            <a:endParaRPr lang="en-US" sz="850" dirty="0"/>
          </a:p>
        </p:txBody>
      </p:sp>
      <p:sp>
        <p:nvSpPr>
          <p:cNvPr id="7" name="Shape 4"/>
          <p:cNvSpPr/>
          <p:nvPr/>
        </p:nvSpPr>
        <p:spPr>
          <a:xfrm>
            <a:off x="731520" y="1499616"/>
            <a:ext cx="10728655" cy="1005840"/>
          </a:xfrm>
          <a:prstGeom prst="roundRect">
            <a:avLst>
              <a:gd name="adj" fmla="val 7273"/>
            </a:avLst>
          </a:prstGeom>
          <a:solidFill>
            <a:srgbClr val="C0ECFF"/>
          </a:solidFill>
          <a:ln w="12700">
            <a:solidFill>
              <a:srgbClr val="C0ECFF"/>
            </a:solidFill>
            <a:prstDash val="solid"/>
          </a:ln>
        </p:spPr>
      </p:sp>
      <p:sp>
        <p:nvSpPr>
          <p:cNvPr id="8" name="Text 5"/>
          <p:cNvSpPr/>
          <p:nvPr/>
        </p:nvSpPr>
        <p:spPr>
          <a:xfrm>
            <a:off x="1060704" y="1664208"/>
            <a:ext cx="10070287" cy="713232"/>
          </a:xfrm>
          <a:prstGeom prst="rect">
            <a:avLst/>
          </a:prstGeom>
          <a:noFill/>
          <a:ln/>
        </p:spPr>
        <p:txBody>
          <a:bodyPr wrap="square" lIns="0" tIns="0" rIns="0" bIns="0" rtlCol="0" anchor="ctr"/>
          <a:lstStyle/>
          <a:p>
            <a:pPr indent="0" marL="0">
              <a:lnSpc>
                <a:spcPts val="2400"/>
              </a:lnSpc>
              <a:buNone/>
            </a:pPr>
            <a:r>
              <a:rPr lang="en-US" sz="1700" b="1" dirty="0">
                <a:solidFill>
                  <a:srgbClr val="000000"/>
                </a:solidFill>
                <a:latin typeface="Plus Jakarta Sans" pitchFamily="34" charset="0"/>
                <a:ea typeface="Plus Jakarta Sans" pitchFamily="34" charset="-122"/>
                <a:cs typeface="Plus Jakarta Sans" pitchFamily="34" charset="-120"/>
              </a:rPr>
              <a:t>One currency. Earn anywhere, spend anywhere. Points stop being a brand's liability and start being value people can move.</a:t>
            </a:r>
            <a:endParaRPr lang="en-US" sz="1700" dirty="0"/>
          </a:p>
        </p:txBody>
      </p:sp>
      <p:sp>
        <p:nvSpPr>
          <p:cNvPr id="9" name="Text 6"/>
          <p:cNvSpPr/>
          <p:nvPr/>
        </p:nvSpPr>
        <p:spPr>
          <a:xfrm>
            <a:off x="731520" y="2724912"/>
            <a:ext cx="10728655" cy="274320"/>
          </a:xfrm>
          <a:prstGeom prst="rect">
            <a:avLst/>
          </a:prstGeom>
          <a:noFill/>
          <a:ln/>
        </p:spPr>
        <p:txBody>
          <a:bodyPr wrap="square" lIns="0" tIns="0" rIns="0" bIns="0" rtlCol="0" anchor="ctr"/>
          <a:lstStyle/>
          <a:p>
            <a:pPr indent="0" marL="0">
              <a:buNone/>
            </a:pPr>
            <a:r>
              <a:rPr lang="en-US" sz="1250" i="1" dirty="0">
                <a:solidFill>
                  <a:srgbClr val="6B6B6B"/>
                </a:solidFill>
                <a:latin typeface="Plus Jakarta Sans" pitchFamily="34" charset="0"/>
                <a:ea typeface="Plus Jakarta Sans" pitchFamily="34" charset="-122"/>
                <a:cs typeface="Plus Jakarta Sans" pitchFamily="34" charset="-120"/>
              </a:rPr>
              <a:t>Long-term hypothesis. Not a roadmap item. Be honest about this one.</a:t>
            </a:r>
            <a:endParaRPr lang="en-US" sz="1250" dirty="0"/>
          </a:p>
        </p:txBody>
      </p:sp>
      <p:sp>
        <p:nvSpPr>
          <p:cNvPr id="10" name="Shape 7"/>
          <p:cNvSpPr/>
          <p:nvPr/>
        </p:nvSpPr>
        <p:spPr>
          <a:xfrm>
            <a:off x="731520" y="3108960"/>
            <a:ext cx="10728655" cy="1627632"/>
          </a:xfrm>
          <a:prstGeom prst="roundRect">
            <a:avLst>
              <a:gd name="adj" fmla="val 3933"/>
            </a:avLst>
          </a:prstGeom>
          <a:solidFill>
            <a:srgbClr val="FFE878"/>
          </a:solidFill>
          <a:ln w="12700">
            <a:solidFill>
              <a:srgbClr val="FFE878"/>
            </a:solidFill>
            <a:prstDash val="solid"/>
          </a:ln>
        </p:spPr>
      </p:sp>
      <p:sp>
        <p:nvSpPr>
          <p:cNvPr id="11" name="Text 8"/>
          <p:cNvSpPr/>
          <p:nvPr/>
        </p:nvSpPr>
        <p:spPr>
          <a:xfrm>
            <a:off x="987552" y="3227832"/>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2" name="Text 9"/>
          <p:cNvSpPr/>
          <p:nvPr/>
        </p:nvSpPr>
        <p:spPr>
          <a:xfrm>
            <a:off x="1005840" y="3474720"/>
            <a:ext cx="10180015" cy="1170432"/>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Points on a brand's balance sheet are a liability they control. A coin hands that control to us. What do they get that's worth it?</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Cross-brand currencies are one of the hardest businesses in fintech, with a long list of well-funded failures.</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Stored-value and e-money rules differ by market. What licence would this need?</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Decide: in the 24-month plan, a stated ambition we describe but don't build, or cut from the story.</a:t>
            </a:r>
            <a:endParaRPr lang="en-US" sz="1150" dirty="0"/>
          </a:p>
        </p:txBody>
      </p:sp>
      <p:sp>
        <p:nvSpPr>
          <p:cNvPr id="13" name="Text 10"/>
          <p:cNvSpPr/>
          <p:nvPr/>
        </p:nvSpPr>
        <p:spPr>
          <a:xfrm>
            <a:off x="731520" y="4974336"/>
            <a:ext cx="10728655" cy="566928"/>
          </a:xfrm>
          <a:prstGeom prst="rect">
            <a:avLst/>
          </a:prstGeom>
          <a:noFill/>
          <a:ln/>
        </p:spPr>
        <p:txBody>
          <a:bodyPr wrap="square" lIns="0" tIns="0" rIns="0" bIns="0" rtlCol="0" anchor="ctr"/>
          <a:lstStyle/>
          <a:p>
            <a:pPr indent="0" marL="0">
              <a:lnSpc>
                <a:spcPts val="2400"/>
              </a:lnSpc>
              <a:buNone/>
            </a:pPr>
            <a:r>
              <a:rPr lang="en-US" sz="1700" b="1" dirty="0">
                <a:solidFill>
                  <a:srgbClr val="3F0059"/>
                </a:solidFill>
                <a:latin typeface="Plus Jakarta Sans" pitchFamily="34" charset="0"/>
                <a:ea typeface="Plus Jakarta Sans" pitchFamily="34" charset="-122"/>
                <a:cs typeface="Plus Jakarta Sans" pitchFamily="34" charset="-120"/>
              </a:rPr>
              <a:t>The useful version may be “become the exchange rate”, not “become the currency”. Is that a downgrade — or is that the actual insight?</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SIZE OF THE PRIZE</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Market</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19</a:t>
            </a:r>
            <a:endParaRPr lang="en-US" sz="850" dirty="0"/>
          </a:p>
        </p:txBody>
      </p:sp>
      <p:sp>
        <p:nvSpPr>
          <p:cNvPr id="7" name="Text 4"/>
          <p:cNvSpPr/>
          <p:nvPr/>
        </p:nvSpPr>
        <p:spPr>
          <a:xfrm>
            <a:off x="731520" y="1499616"/>
            <a:ext cx="10728655" cy="325120"/>
          </a:xfrm>
          <a:prstGeom prst="rect">
            <a:avLst/>
          </a:prstGeom>
          <a:noFill/>
          <a:ln/>
        </p:spPr>
        <p:txBody>
          <a:bodyPr wrap="square" lIns="0" tIns="0" rIns="0" bIns="0" rtlCol="0" anchor="ctr"/>
          <a:lstStyle/>
          <a:p>
            <a:pPr indent="0" marL="0">
              <a:lnSpc>
                <a:spcPts val="2320"/>
              </a:lnSpc>
              <a:buNone/>
            </a:pPr>
            <a:r>
              <a:rPr lang="en-US" sz="1600" dirty="0">
                <a:solidFill>
                  <a:srgbClr val="000000"/>
                </a:solidFill>
                <a:latin typeface="Plus Jakarta Sans" pitchFamily="34" charset="0"/>
                <a:ea typeface="Plus Jakarta Sans" pitchFamily="34" charset="-122"/>
                <a:cs typeface="Plus Jakarta Sans" pitchFamily="34" charset="-120"/>
              </a:rPr>
              <a:t>Every number on this slide must be real. A wrong figure here ends the meeting.</a:t>
            </a:r>
            <a:endParaRPr lang="en-US" sz="1600" dirty="0"/>
          </a:p>
        </p:txBody>
      </p:sp>
      <p:sp>
        <p:nvSpPr>
          <p:cNvPr id="8" name="Shape 5"/>
          <p:cNvSpPr/>
          <p:nvPr/>
        </p:nvSpPr>
        <p:spPr>
          <a:xfrm>
            <a:off x="731520" y="2089912"/>
            <a:ext cx="10728655" cy="621792"/>
          </a:xfrm>
          <a:prstGeom prst="roundRect">
            <a:avLst>
              <a:gd name="adj" fmla="val 8824"/>
            </a:avLst>
          </a:prstGeom>
          <a:solidFill>
            <a:srgbClr val="FFFFFF"/>
          </a:solidFill>
          <a:ln w="12700">
            <a:solidFill>
              <a:srgbClr val="D8D2DC"/>
            </a:solidFill>
            <a:prstDash val="solid"/>
          </a:ln>
        </p:spPr>
      </p:sp>
      <p:sp>
        <p:nvSpPr>
          <p:cNvPr id="9" name="Text 6"/>
          <p:cNvSpPr/>
          <p:nvPr/>
        </p:nvSpPr>
        <p:spPr>
          <a:xfrm>
            <a:off x="1005840" y="2089912"/>
            <a:ext cx="7498080" cy="621792"/>
          </a:xfrm>
          <a:prstGeom prst="rect">
            <a:avLst/>
          </a:prstGeom>
          <a:noFill/>
          <a:ln/>
        </p:spPr>
        <p:txBody>
          <a:bodyPr wrap="square" lIns="0" tIns="0" rIns="0" bIns="0" rtlCol="0" anchor="ctr"/>
          <a:lstStyle/>
          <a:p>
            <a:pPr indent="0" marL="0">
              <a:buNone/>
            </a:pPr>
            <a:r>
              <a:rPr lang="en-US" sz="1350" dirty="0">
                <a:solidFill>
                  <a:srgbClr val="000000"/>
                </a:solidFill>
                <a:latin typeface="Plus Jakarta Sans" pitchFamily="34" charset="0"/>
                <a:ea typeface="Plus Jakarta Sans" pitchFamily="34" charset="-122"/>
                <a:cs typeface="Plus Jakarta Sans" pitchFamily="34" charset="-120"/>
              </a:rPr>
              <a:t>Loyalty program memberships per person in India</a:t>
            </a:r>
            <a:endParaRPr lang="en-US" sz="1350" dirty="0"/>
          </a:p>
        </p:txBody>
      </p:sp>
      <p:sp>
        <p:nvSpPr>
          <p:cNvPr id="10" name="Text 7"/>
          <p:cNvSpPr/>
          <p:nvPr/>
        </p:nvSpPr>
        <p:spPr>
          <a:xfrm>
            <a:off x="9448495" y="2089912"/>
            <a:ext cx="1737360" cy="621792"/>
          </a:xfrm>
          <a:prstGeom prst="rect">
            <a:avLst/>
          </a:prstGeom>
          <a:noFill/>
          <a:ln/>
        </p:spPr>
        <p:txBody>
          <a:bodyPr wrap="square" lIns="0" tIns="0" rIns="0" bIns="0" rtlCol="0" anchor="ctr"/>
          <a:lstStyle/>
          <a:p>
            <a:pPr algn="r" indent="0" marL="0">
              <a:buNone/>
            </a:pPr>
            <a:r>
              <a:rPr lang="en-US" sz="2000" b="1" dirty="0">
                <a:solidFill>
                  <a:srgbClr val="C0ECFF"/>
                </a:solidFill>
                <a:latin typeface="Plus Jakarta Sans" pitchFamily="34" charset="0"/>
                <a:ea typeface="Plus Jakarta Sans" pitchFamily="34" charset="-122"/>
                <a:cs typeface="Plus Jakarta Sans" pitchFamily="34" charset="-120"/>
              </a:rPr>
              <a:t>?</a:t>
            </a:r>
            <a:endParaRPr lang="en-US" sz="2000" dirty="0"/>
          </a:p>
        </p:txBody>
      </p:sp>
      <p:sp>
        <p:nvSpPr>
          <p:cNvPr id="11" name="Shape 8"/>
          <p:cNvSpPr/>
          <p:nvPr/>
        </p:nvSpPr>
        <p:spPr>
          <a:xfrm>
            <a:off x="731520" y="2839720"/>
            <a:ext cx="10728655" cy="621792"/>
          </a:xfrm>
          <a:prstGeom prst="roundRect">
            <a:avLst>
              <a:gd name="adj" fmla="val 8824"/>
            </a:avLst>
          </a:prstGeom>
          <a:solidFill>
            <a:srgbClr val="FFFFFF"/>
          </a:solidFill>
          <a:ln w="12700">
            <a:solidFill>
              <a:srgbClr val="D8D2DC"/>
            </a:solidFill>
            <a:prstDash val="solid"/>
          </a:ln>
        </p:spPr>
      </p:sp>
      <p:sp>
        <p:nvSpPr>
          <p:cNvPr id="12" name="Text 9"/>
          <p:cNvSpPr/>
          <p:nvPr/>
        </p:nvSpPr>
        <p:spPr>
          <a:xfrm>
            <a:off x="1005840" y="2839720"/>
            <a:ext cx="7498080" cy="621792"/>
          </a:xfrm>
          <a:prstGeom prst="rect">
            <a:avLst/>
          </a:prstGeom>
          <a:noFill/>
          <a:ln/>
        </p:spPr>
        <p:txBody>
          <a:bodyPr wrap="square" lIns="0" tIns="0" rIns="0" bIns="0" rtlCol="0" anchor="ctr"/>
          <a:lstStyle/>
          <a:p>
            <a:pPr indent="0" marL="0">
              <a:buNone/>
            </a:pPr>
            <a:r>
              <a:rPr lang="en-US" sz="1350" dirty="0">
                <a:solidFill>
                  <a:srgbClr val="000000"/>
                </a:solidFill>
                <a:latin typeface="Plus Jakarta Sans" pitchFamily="34" charset="0"/>
                <a:ea typeface="Plus Jakarta Sans" pitchFamily="34" charset="-122"/>
                <a:cs typeface="Plus Jakarta Sans" pitchFamily="34" charset="-120"/>
              </a:rPr>
              <a:t>Value of points issued annually</a:t>
            </a:r>
            <a:endParaRPr lang="en-US" sz="1350" dirty="0"/>
          </a:p>
        </p:txBody>
      </p:sp>
      <p:sp>
        <p:nvSpPr>
          <p:cNvPr id="13" name="Text 10"/>
          <p:cNvSpPr/>
          <p:nvPr/>
        </p:nvSpPr>
        <p:spPr>
          <a:xfrm>
            <a:off x="9448495" y="2839720"/>
            <a:ext cx="1737360" cy="621792"/>
          </a:xfrm>
          <a:prstGeom prst="rect">
            <a:avLst/>
          </a:prstGeom>
          <a:noFill/>
          <a:ln/>
        </p:spPr>
        <p:txBody>
          <a:bodyPr wrap="square" lIns="0" tIns="0" rIns="0" bIns="0" rtlCol="0" anchor="ctr"/>
          <a:lstStyle/>
          <a:p>
            <a:pPr algn="r" indent="0" marL="0">
              <a:buNone/>
            </a:pPr>
            <a:r>
              <a:rPr lang="en-US" sz="2000" b="1" dirty="0">
                <a:solidFill>
                  <a:srgbClr val="C0ECFF"/>
                </a:solidFill>
                <a:latin typeface="Plus Jakarta Sans" pitchFamily="34" charset="0"/>
                <a:ea typeface="Plus Jakarta Sans" pitchFamily="34" charset="-122"/>
                <a:cs typeface="Plus Jakarta Sans" pitchFamily="34" charset="-120"/>
              </a:rPr>
              <a:t>?</a:t>
            </a:r>
            <a:endParaRPr lang="en-US" sz="2000" dirty="0"/>
          </a:p>
        </p:txBody>
      </p:sp>
      <p:sp>
        <p:nvSpPr>
          <p:cNvPr id="14" name="Shape 11"/>
          <p:cNvSpPr/>
          <p:nvPr/>
        </p:nvSpPr>
        <p:spPr>
          <a:xfrm>
            <a:off x="731520" y="3589528"/>
            <a:ext cx="10728655" cy="621792"/>
          </a:xfrm>
          <a:prstGeom prst="roundRect">
            <a:avLst>
              <a:gd name="adj" fmla="val 8824"/>
            </a:avLst>
          </a:prstGeom>
          <a:solidFill>
            <a:srgbClr val="FFFFFF"/>
          </a:solidFill>
          <a:ln w="12700">
            <a:solidFill>
              <a:srgbClr val="D8D2DC"/>
            </a:solidFill>
            <a:prstDash val="solid"/>
          </a:ln>
        </p:spPr>
      </p:sp>
      <p:sp>
        <p:nvSpPr>
          <p:cNvPr id="15" name="Text 12"/>
          <p:cNvSpPr/>
          <p:nvPr/>
        </p:nvSpPr>
        <p:spPr>
          <a:xfrm>
            <a:off x="1005840" y="3589528"/>
            <a:ext cx="7498080" cy="621792"/>
          </a:xfrm>
          <a:prstGeom prst="rect">
            <a:avLst/>
          </a:prstGeom>
          <a:noFill/>
          <a:ln/>
        </p:spPr>
        <p:txBody>
          <a:bodyPr wrap="square" lIns="0" tIns="0" rIns="0" bIns="0" rtlCol="0" anchor="ctr"/>
          <a:lstStyle/>
          <a:p>
            <a:pPr indent="0" marL="0">
              <a:buNone/>
            </a:pPr>
            <a:r>
              <a:rPr lang="en-US" sz="1350" dirty="0">
                <a:solidFill>
                  <a:srgbClr val="000000"/>
                </a:solidFill>
                <a:latin typeface="Plus Jakarta Sans" pitchFamily="34" charset="0"/>
                <a:ea typeface="Plus Jakarta Sans" pitchFamily="34" charset="-122"/>
                <a:cs typeface="Plus Jakarta Sans" pitchFamily="34" charset="-120"/>
              </a:rPr>
              <a:t>Value that expires unused each year</a:t>
            </a:r>
            <a:endParaRPr lang="en-US" sz="1350" dirty="0"/>
          </a:p>
        </p:txBody>
      </p:sp>
      <p:sp>
        <p:nvSpPr>
          <p:cNvPr id="16" name="Text 13"/>
          <p:cNvSpPr/>
          <p:nvPr/>
        </p:nvSpPr>
        <p:spPr>
          <a:xfrm>
            <a:off x="9448495" y="3589528"/>
            <a:ext cx="1737360" cy="621792"/>
          </a:xfrm>
          <a:prstGeom prst="rect">
            <a:avLst/>
          </a:prstGeom>
          <a:noFill/>
          <a:ln/>
        </p:spPr>
        <p:txBody>
          <a:bodyPr wrap="square" lIns="0" tIns="0" rIns="0" bIns="0" rtlCol="0" anchor="ctr"/>
          <a:lstStyle/>
          <a:p>
            <a:pPr algn="r" indent="0" marL="0">
              <a:buNone/>
            </a:pPr>
            <a:r>
              <a:rPr lang="en-US" sz="2000" b="1" dirty="0">
                <a:solidFill>
                  <a:srgbClr val="C0ECFF"/>
                </a:solidFill>
                <a:latin typeface="Plus Jakarta Sans" pitchFamily="34" charset="0"/>
                <a:ea typeface="Plus Jakarta Sans" pitchFamily="34" charset="-122"/>
                <a:cs typeface="Plus Jakarta Sans" pitchFamily="34" charset="-120"/>
              </a:rPr>
              <a:t>?</a:t>
            </a:r>
            <a:endParaRPr lang="en-US" sz="2000" dirty="0"/>
          </a:p>
        </p:txBody>
      </p:sp>
      <p:sp>
        <p:nvSpPr>
          <p:cNvPr id="17" name="Shape 14"/>
          <p:cNvSpPr/>
          <p:nvPr/>
        </p:nvSpPr>
        <p:spPr>
          <a:xfrm>
            <a:off x="731520" y="4339336"/>
            <a:ext cx="10728655" cy="621792"/>
          </a:xfrm>
          <a:prstGeom prst="roundRect">
            <a:avLst>
              <a:gd name="adj" fmla="val 8824"/>
            </a:avLst>
          </a:prstGeom>
          <a:solidFill>
            <a:srgbClr val="FFFFFF"/>
          </a:solidFill>
          <a:ln w="12700">
            <a:solidFill>
              <a:srgbClr val="D8D2DC"/>
            </a:solidFill>
            <a:prstDash val="solid"/>
          </a:ln>
        </p:spPr>
      </p:sp>
      <p:sp>
        <p:nvSpPr>
          <p:cNvPr id="18" name="Text 15"/>
          <p:cNvSpPr/>
          <p:nvPr/>
        </p:nvSpPr>
        <p:spPr>
          <a:xfrm>
            <a:off x="1005840" y="4339336"/>
            <a:ext cx="7498080" cy="621792"/>
          </a:xfrm>
          <a:prstGeom prst="rect">
            <a:avLst/>
          </a:prstGeom>
          <a:noFill/>
          <a:ln/>
        </p:spPr>
        <p:txBody>
          <a:bodyPr wrap="square" lIns="0" tIns="0" rIns="0" bIns="0" rtlCol="0" anchor="ctr"/>
          <a:lstStyle/>
          <a:p>
            <a:pPr indent="0" marL="0">
              <a:buNone/>
            </a:pPr>
            <a:r>
              <a:rPr lang="en-US" sz="1350" dirty="0">
                <a:solidFill>
                  <a:srgbClr val="000000"/>
                </a:solidFill>
                <a:latin typeface="Plus Jakarta Sans" pitchFamily="34" charset="0"/>
                <a:ea typeface="Plus Jakarta Sans" pitchFamily="34" charset="-122"/>
                <a:cs typeface="Plus Jakarta Sans" pitchFamily="34" charset="-120"/>
              </a:rPr>
              <a:t>How many people match our beachhead description</a:t>
            </a:r>
            <a:endParaRPr lang="en-US" sz="1350" dirty="0"/>
          </a:p>
        </p:txBody>
      </p:sp>
      <p:sp>
        <p:nvSpPr>
          <p:cNvPr id="19" name="Text 16"/>
          <p:cNvSpPr/>
          <p:nvPr/>
        </p:nvSpPr>
        <p:spPr>
          <a:xfrm>
            <a:off x="9448495" y="4339336"/>
            <a:ext cx="1737360" cy="621792"/>
          </a:xfrm>
          <a:prstGeom prst="rect">
            <a:avLst/>
          </a:prstGeom>
          <a:noFill/>
          <a:ln/>
        </p:spPr>
        <p:txBody>
          <a:bodyPr wrap="square" lIns="0" tIns="0" rIns="0" bIns="0" rtlCol="0" anchor="ctr"/>
          <a:lstStyle/>
          <a:p>
            <a:pPr algn="r" indent="0" marL="0">
              <a:buNone/>
            </a:pPr>
            <a:r>
              <a:rPr lang="en-US" sz="2000" b="1" dirty="0">
                <a:solidFill>
                  <a:srgbClr val="C0ECFF"/>
                </a:solidFill>
                <a:latin typeface="Plus Jakarta Sans" pitchFamily="34" charset="0"/>
                <a:ea typeface="Plus Jakarta Sans" pitchFamily="34" charset="-122"/>
                <a:cs typeface="Plus Jakarta Sans" pitchFamily="34" charset="-120"/>
              </a:rPr>
              <a:t>?</a:t>
            </a:r>
            <a:endParaRPr lang="en-US" sz="2000" dirty="0"/>
          </a:p>
        </p:txBody>
      </p:sp>
      <p:sp>
        <p:nvSpPr>
          <p:cNvPr id="20" name="Shape 17"/>
          <p:cNvSpPr/>
          <p:nvPr/>
        </p:nvSpPr>
        <p:spPr>
          <a:xfrm>
            <a:off x="731520" y="5217160"/>
            <a:ext cx="10728655" cy="763524"/>
          </a:xfrm>
          <a:prstGeom prst="roundRect">
            <a:avLst>
              <a:gd name="adj" fmla="val 8383"/>
            </a:avLst>
          </a:prstGeom>
          <a:solidFill>
            <a:srgbClr val="FFE878"/>
          </a:solidFill>
          <a:ln w="12700">
            <a:solidFill>
              <a:srgbClr val="FFE878"/>
            </a:solidFill>
            <a:prstDash val="solid"/>
          </a:ln>
        </p:spPr>
      </p:sp>
      <p:sp>
        <p:nvSpPr>
          <p:cNvPr id="21" name="Text 18"/>
          <p:cNvSpPr/>
          <p:nvPr/>
        </p:nvSpPr>
        <p:spPr>
          <a:xfrm>
            <a:off x="987552" y="5336032"/>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22" name="Text 19"/>
          <p:cNvSpPr/>
          <p:nvPr/>
        </p:nvSpPr>
        <p:spPr>
          <a:xfrm>
            <a:off x="1005840" y="5582920"/>
            <a:ext cx="10180015" cy="306324"/>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Founder input required. I will not put an invented number on a slide.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STAGE · STATED STRAIGHT</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Where we are</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20</a:t>
            </a:r>
            <a:endParaRPr lang="en-US" sz="850" dirty="0"/>
          </a:p>
        </p:txBody>
      </p:sp>
      <p:sp>
        <p:nvSpPr>
          <p:cNvPr id="7" name="Text 4"/>
          <p:cNvSpPr/>
          <p:nvPr/>
        </p:nvSpPr>
        <p:spPr>
          <a:xfrm>
            <a:off x="768096" y="1499616"/>
            <a:ext cx="10692079" cy="1655064"/>
          </a:xfrm>
          <a:prstGeom prst="rect">
            <a:avLst/>
          </a:prstGeom>
          <a:noFill/>
          <a:ln/>
        </p:spPr>
        <p:txBody>
          <a:bodyPr wrap="square" lIns="0" tIns="0" rIns="0" bIns="0" rtlCol="0" anchor="ctr"/>
          <a:lstStyle/>
          <a:p>
            <a:pPr marL="342900" indent="-342900">
              <a:lnSpc>
                <a:spcPts val="2130"/>
              </a:lnSpc>
              <a:spcAft>
                <a:spcPts val="600"/>
              </a:spcAft>
              <a:buSzPct val="100000"/>
              <a:buChar char="●"/>
            </a:pPr>
            <a:r>
              <a:rPr lang="en-US" sz="1500" dirty="0">
                <a:solidFill>
                  <a:srgbClr val="000000"/>
                </a:solidFill>
                <a:latin typeface="Plus Jakarta Sans" pitchFamily="34" charset="0"/>
                <a:ea typeface="Plus Jakarta Sans" pitchFamily="34" charset="-122"/>
                <a:cs typeface="Plus Jakarta Sans" pitchFamily="34" charset="-120"/>
              </a:rPr>
              <a:t>MVP built — login, automatic discovery from email, consolidated wallet, category and brand views, expiry alerts.</a:t>
            </a:r>
            <a:endParaRPr lang="en-US" sz="1500" dirty="0"/>
          </a:p>
          <a:p>
            <a:pPr marL="342900" indent="-342900">
              <a:lnSpc>
                <a:spcPts val="2130"/>
              </a:lnSpc>
              <a:spcAft>
                <a:spcPts val="600"/>
              </a:spcAft>
              <a:buSzPct val="100000"/>
              <a:buChar char="●"/>
            </a:pPr>
            <a:r>
              <a:rPr lang="en-US" sz="1500" dirty="0">
                <a:solidFill>
                  <a:srgbClr val="000000"/>
                </a:solidFill>
                <a:latin typeface="Plus Jakarta Sans" pitchFamily="34" charset="0"/>
                <a:ea typeface="Plus Jakarta Sans" pitchFamily="34" charset="-122"/>
                <a:cs typeface="Plus Jakarta Sans" pitchFamily="34" charset="-120"/>
              </a:rPr>
              <a:t>Around 24 Indian loyalty programs across 12 categories mapped.</a:t>
            </a:r>
            <a:endParaRPr lang="en-US" sz="1500" dirty="0"/>
          </a:p>
          <a:p>
            <a:pPr marL="342900" indent="-342900">
              <a:lnSpc>
                <a:spcPts val="2130"/>
              </a:lnSpc>
              <a:spcAft>
                <a:spcPts val="600"/>
              </a:spcAft>
              <a:buSzPct val="100000"/>
              <a:buChar char="●"/>
            </a:pPr>
            <a:r>
              <a:rPr lang="en-US" sz="1500" dirty="0">
                <a:solidFill>
                  <a:srgbClr val="000000"/>
                </a:solidFill>
                <a:latin typeface="Plus Jakarta Sans" pitchFamily="34" charset="0"/>
                <a:ea typeface="Plus Jakarta Sans" pitchFamily="34" charset="-122"/>
                <a:cs typeface="Plus Jakarta Sans" pitchFamily="34" charset="-120"/>
              </a:rPr>
              <a:t>No users. No revenue. No brand conversations started.</a:t>
            </a:r>
            <a:endParaRPr lang="en-US" sz="1500" dirty="0"/>
          </a:p>
          <a:p>
            <a:pPr marL="342900" indent="-342900">
              <a:lnSpc>
                <a:spcPts val="2130"/>
              </a:lnSpc>
              <a:spcAft>
                <a:spcPts val="600"/>
              </a:spcAft>
              <a:buSzPct val="100000"/>
              <a:buChar char="●"/>
            </a:pPr>
            <a:r>
              <a:rPr lang="en-US" sz="1500" dirty="0">
                <a:solidFill>
                  <a:srgbClr val="000000"/>
                </a:solidFill>
                <a:latin typeface="Plus Jakarta Sans" pitchFamily="34" charset="0"/>
                <a:ea typeface="Plus Jakarta Sans" pitchFamily="34" charset="-122"/>
                <a:cs typeface="Plus Jakarta Sans" pitchFamily="34" charset="-120"/>
              </a:rPr>
              <a:t>Three founders. Roles split and agreed.</a:t>
            </a:r>
            <a:endParaRPr lang="en-US" sz="1500" dirty="0"/>
          </a:p>
        </p:txBody>
      </p:sp>
      <p:sp>
        <p:nvSpPr>
          <p:cNvPr id="8" name="Text 5"/>
          <p:cNvSpPr/>
          <p:nvPr/>
        </p:nvSpPr>
        <p:spPr>
          <a:xfrm>
            <a:off x="731520" y="3337560"/>
            <a:ext cx="10728655" cy="548640"/>
          </a:xfrm>
          <a:prstGeom prst="rect">
            <a:avLst/>
          </a:prstGeom>
          <a:noFill/>
          <a:ln/>
        </p:spPr>
        <p:txBody>
          <a:bodyPr wrap="square" lIns="0" tIns="0" rIns="0" bIns="0" rtlCol="0" anchor="ctr"/>
          <a:lstStyle/>
          <a:p>
            <a:pPr indent="0" marL="0">
              <a:lnSpc>
                <a:spcPts val="1900"/>
              </a:lnSpc>
              <a:buNone/>
            </a:pPr>
            <a:r>
              <a:rPr lang="en-US" sz="1300" i="1" dirty="0">
                <a:solidFill>
                  <a:srgbClr val="6B6B6B"/>
                </a:solidFill>
                <a:latin typeface="Plus Jakarta Sans" pitchFamily="34" charset="0"/>
                <a:ea typeface="Plus Jakarta Sans" pitchFamily="34" charset="-122"/>
                <a:cs typeface="Plus Jakarta Sans" pitchFamily="34" charset="-120"/>
              </a:rPr>
              <a:t>This deck is vision-forward, so this slide sits here. When we actually raise, it moves to slide four — because that's where they'll ask.</a:t>
            </a:r>
            <a:endParaRPr lang="en-US" sz="1300" dirty="0"/>
          </a:p>
        </p:txBody>
      </p:sp>
      <p:sp>
        <p:nvSpPr>
          <p:cNvPr id="9" name="Shape 6"/>
          <p:cNvSpPr/>
          <p:nvPr/>
        </p:nvSpPr>
        <p:spPr>
          <a:xfrm>
            <a:off x="731520" y="4014216"/>
            <a:ext cx="10728655" cy="1339596"/>
          </a:xfrm>
          <a:prstGeom prst="roundRect">
            <a:avLst>
              <a:gd name="adj" fmla="val 4778"/>
            </a:avLst>
          </a:prstGeom>
          <a:solidFill>
            <a:srgbClr val="FFE878"/>
          </a:solidFill>
          <a:ln w="12700">
            <a:solidFill>
              <a:srgbClr val="FFE878"/>
            </a:solidFill>
            <a:prstDash val="solid"/>
          </a:ln>
        </p:spPr>
      </p:sp>
      <p:sp>
        <p:nvSpPr>
          <p:cNvPr id="10" name="Text 7"/>
          <p:cNvSpPr/>
          <p:nvPr/>
        </p:nvSpPr>
        <p:spPr>
          <a:xfrm>
            <a:off x="987552" y="4133088"/>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1" name="Text 8"/>
          <p:cNvSpPr/>
          <p:nvPr/>
        </p:nvSpPr>
        <p:spPr>
          <a:xfrm>
            <a:off x="1005840" y="4379976"/>
            <a:ext cx="10180015" cy="882396"/>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What's genuinely working versus mocked?</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Has anyone outside the three of us used it? What did they say?</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Are any of us full-time? Real hours per week, each.</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ROADMAP</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What we prove next</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21</a:t>
            </a:r>
            <a:endParaRPr lang="en-US" sz="850" dirty="0"/>
          </a:p>
        </p:txBody>
      </p:sp>
      <p:sp>
        <p:nvSpPr>
          <p:cNvPr id="7" name="Shape 4"/>
          <p:cNvSpPr/>
          <p:nvPr/>
        </p:nvSpPr>
        <p:spPr>
          <a:xfrm>
            <a:off x="731520" y="1545336"/>
            <a:ext cx="10728655" cy="969264"/>
          </a:xfrm>
          <a:prstGeom prst="roundRect">
            <a:avLst>
              <a:gd name="adj" fmla="val 6604"/>
            </a:avLst>
          </a:prstGeom>
          <a:solidFill>
            <a:srgbClr val="F7F3F9"/>
          </a:solidFill>
          <a:ln w="9525">
            <a:solidFill>
              <a:srgbClr val="D8D2DC"/>
            </a:solidFill>
            <a:prstDash val="solid"/>
          </a:ln>
        </p:spPr>
      </p:sp>
      <p:sp>
        <p:nvSpPr>
          <p:cNvPr id="8" name="Text 5"/>
          <p:cNvSpPr/>
          <p:nvPr/>
        </p:nvSpPr>
        <p:spPr>
          <a:xfrm>
            <a:off x="1005840" y="1709928"/>
            <a:ext cx="3108960" cy="256032"/>
          </a:xfrm>
          <a:prstGeom prst="rect">
            <a:avLst/>
          </a:prstGeom>
          <a:noFill/>
          <a:ln/>
        </p:spPr>
        <p:txBody>
          <a:bodyPr wrap="square" lIns="0" tIns="0" rIns="0" bIns="0" rtlCol="0" anchor="ctr"/>
          <a:lstStyle/>
          <a:p>
            <a:pPr indent="0" marL="0">
              <a:buNone/>
            </a:pPr>
            <a:r>
              <a:rPr lang="en-US" sz="1050" b="1" spc="140" kern="0" dirty="0">
                <a:solidFill>
                  <a:srgbClr val="01A2FB"/>
                </a:solidFill>
                <a:latin typeface="Plus Jakarta Sans" pitchFamily="34" charset="0"/>
                <a:ea typeface="Plus Jakarta Sans" pitchFamily="34" charset="-122"/>
                <a:cs typeface="Plus Jakarta Sans" pitchFamily="34" charset="-120"/>
              </a:rPr>
              <a:t>NEXT 6 MONTHS</a:t>
            </a:r>
            <a:endParaRPr lang="en-US" sz="1050" dirty="0"/>
          </a:p>
        </p:txBody>
      </p:sp>
      <p:sp>
        <p:nvSpPr>
          <p:cNvPr id="9" name="Text 6"/>
          <p:cNvSpPr/>
          <p:nvPr/>
        </p:nvSpPr>
        <p:spPr>
          <a:xfrm>
            <a:off x="1005840" y="2002536"/>
            <a:ext cx="7680960" cy="365760"/>
          </a:xfrm>
          <a:prstGeom prst="rect">
            <a:avLst/>
          </a:prstGeom>
          <a:noFill/>
          <a:ln/>
        </p:spPr>
        <p:txBody>
          <a:bodyPr wrap="square" lIns="0" tIns="0" rIns="0" bIns="0" rtlCol="0" anchor="ctr"/>
          <a:lstStyle/>
          <a:p>
            <a:pPr indent="0" marL="0">
              <a:buNone/>
            </a:pPr>
            <a:r>
              <a:rPr lang="en-US" sz="1600" b="1" dirty="0">
                <a:solidFill>
                  <a:srgbClr val="000000"/>
                </a:solidFill>
                <a:latin typeface="Plus Jakarta Sans" pitchFamily="34" charset="0"/>
                <a:ea typeface="Plus Jakarta Sans" pitchFamily="34" charset="-122"/>
                <a:cs typeface="Plus Jakarta Sans" pitchFamily="34" charset="-120"/>
              </a:rPr>
              <a:t>What makes us believe people come back?</a:t>
            </a:r>
            <a:endParaRPr lang="en-US" sz="1600" dirty="0"/>
          </a:p>
        </p:txBody>
      </p:sp>
      <p:sp>
        <p:nvSpPr>
          <p:cNvPr id="10" name="Text 7"/>
          <p:cNvSpPr/>
          <p:nvPr/>
        </p:nvSpPr>
        <p:spPr>
          <a:xfrm>
            <a:off x="8686800" y="1545336"/>
            <a:ext cx="2590495" cy="969264"/>
          </a:xfrm>
          <a:prstGeom prst="rect">
            <a:avLst/>
          </a:prstGeom>
          <a:noFill/>
          <a:ln/>
        </p:spPr>
        <p:txBody>
          <a:bodyPr wrap="square" lIns="0" tIns="0" rIns="0" bIns="0" rtlCol="0" anchor="ctr"/>
          <a:lstStyle/>
          <a:p>
            <a:pPr indent="0" marL="0">
              <a:buNone/>
            </a:pPr>
            <a:r>
              <a:rPr lang="en-US" sz="1200" dirty="0">
                <a:solidFill>
                  <a:srgbClr val="6B6B6B"/>
                </a:solidFill>
                <a:latin typeface="Plus Jakarta Sans" pitchFamily="34" charset="0"/>
                <a:ea typeface="Plus Jakarta Sans" pitchFamily="34" charset="-122"/>
                <a:cs typeface="Plus Jakarta Sans" pitchFamily="34" charset="-120"/>
              </a:rPr>
              <a:t>One metric. Retention, not signups.</a:t>
            </a:r>
            <a:endParaRPr lang="en-US" sz="1200" dirty="0"/>
          </a:p>
        </p:txBody>
      </p:sp>
      <p:sp>
        <p:nvSpPr>
          <p:cNvPr id="11" name="Shape 8"/>
          <p:cNvSpPr/>
          <p:nvPr/>
        </p:nvSpPr>
        <p:spPr>
          <a:xfrm>
            <a:off x="731520" y="2679192"/>
            <a:ext cx="10728655" cy="969264"/>
          </a:xfrm>
          <a:prstGeom prst="roundRect">
            <a:avLst>
              <a:gd name="adj" fmla="val 6604"/>
            </a:avLst>
          </a:prstGeom>
          <a:solidFill>
            <a:srgbClr val="F7F3F9"/>
          </a:solidFill>
          <a:ln w="9525">
            <a:solidFill>
              <a:srgbClr val="D8D2DC"/>
            </a:solidFill>
            <a:prstDash val="solid"/>
          </a:ln>
        </p:spPr>
      </p:sp>
      <p:sp>
        <p:nvSpPr>
          <p:cNvPr id="12" name="Text 9"/>
          <p:cNvSpPr/>
          <p:nvPr/>
        </p:nvSpPr>
        <p:spPr>
          <a:xfrm>
            <a:off x="1005840" y="2843784"/>
            <a:ext cx="3108960" cy="256032"/>
          </a:xfrm>
          <a:prstGeom prst="rect">
            <a:avLst/>
          </a:prstGeom>
          <a:noFill/>
          <a:ln/>
        </p:spPr>
        <p:txBody>
          <a:bodyPr wrap="square" lIns="0" tIns="0" rIns="0" bIns="0" rtlCol="0" anchor="ctr"/>
          <a:lstStyle/>
          <a:p>
            <a:pPr indent="0" marL="0">
              <a:buNone/>
            </a:pPr>
            <a:r>
              <a:rPr lang="en-US" sz="1050" b="1" spc="140" kern="0" dirty="0">
                <a:solidFill>
                  <a:srgbClr val="01A2FB"/>
                </a:solidFill>
                <a:latin typeface="Plus Jakarta Sans" pitchFamily="34" charset="0"/>
                <a:ea typeface="Plus Jakarta Sans" pitchFamily="34" charset="-122"/>
                <a:cs typeface="Plus Jakarta Sans" pitchFamily="34" charset="-120"/>
              </a:rPr>
              <a:t>6 – 12 MONTHS</a:t>
            </a:r>
            <a:endParaRPr lang="en-US" sz="1050" dirty="0"/>
          </a:p>
        </p:txBody>
      </p:sp>
      <p:sp>
        <p:nvSpPr>
          <p:cNvPr id="13" name="Text 10"/>
          <p:cNvSpPr/>
          <p:nvPr/>
        </p:nvSpPr>
        <p:spPr>
          <a:xfrm>
            <a:off x="1005840" y="3136392"/>
            <a:ext cx="7680960" cy="365760"/>
          </a:xfrm>
          <a:prstGeom prst="rect">
            <a:avLst/>
          </a:prstGeom>
          <a:noFill/>
          <a:ln/>
        </p:spPr>
        <p:txBody>
          <a:bodyPr wrap="square" lIns="0" tIns="0" rIns="0" bIns="0" rtlCol="0" anchor="ctr"/>
          <a:lstStyle/>
          <a:p>
            <a:pPr indent="0" marL="0">
              <a:buNone/>
            </a:pPr>
            <a:r>
              <a:rPr lang="en-US" sz="1600" b="1" dirty="0">
                <a:solidFill>
                  <a:srgbClr val="000000"/>
                </a:solidFill>
                <a:latin typeface="Plus Jakarta Sans" pitchFamily="34" charset="0"/>
                <a:ea typeface="Plus Jakarta Sans" pitchFamily="34" charset="-122"/>
                <a:cs typeface="Plus Jakarta Sans" pitchFamily="34" charset="-120"/>
              </a:rPr>
              <a:t>What proves we can grow without buying every user?</a:t>
            </a:r>
            <a:endParaRPr lang="en-US" sz="1600" dirty="0"/>
          </a:p>
        </p:txBody>
      </p:sp>
      <p:sp>
        <p:nvSpPr>
          <p:cNvPr id="14" name="Shape 11"/>
          <p:cNvSpPr/>
          <p:nvPr/>
        </p:nvSpPr>
        <p:spPr>
          <a:xfrm>
            <a:off x="731520" y="3813048"/>
            <a:ext cx="10728655" cy="969264"/>
          </a:xfrm>
          <a:prstGeom prst="roundRect">
            <a:avLst>
              <a:gd name="adj" fmla="val 6604"/>
            </a:avLst>
          </a:prstGeom>
          <a:solidFill>
            <a:srgbClr val="F7F3F9"/>
          </a:solidFill>
          <a:ln w="9525">
            <a:solidFill>
              <a:srgbClr val="D8D2DC"/>
            </a:solidFill>
            <a:prstDash val="solid"/>
          </a:ln>
        </p:spPr>
      </p:sp>
      <p:sp>
        <p:nvSpPr>
          <p:cNvPr id="15" name="Text 12"/>
          <p:cNvSpPr/>
          <p:nvPr/>
        </p:nvSpPr>
        <p:spPr>
          <a:xfrm>
            <a:off x="1005840" y="3977640"/>
            <a:ext cx="3108960" cy="256032"/>
          </a:xfrm>
          <a:prstGeom prst="rect">
            <a:avLst/>
          </a:prstGeom>
          <a:noFill/>
          <a:ln/>
        </p:spPr>
        <p:txBody>
          <a:bodyPr wrap="square" lIns="0" tIns="0" rIns="0" bIns="0" rtlCol="0" anchor="ctr"/>
          <a:lstStyle/>
          <a:p>
            <a:pPr indent="0" marL="0">
              <a:buNone/>
            </a:pPr>
            <a:r>
              <a:rPr lang="en-US" sz="1050" b="1" spc="140" kern="0" dirty="0">
                <a:solidFill>
                  <a:srgbClr val="01A2FB"/>
                </a:solidFill>
                <a:latin typeface="Plus Jakarta Sans" pitchFamily="34" charset="0"/>
                <a:ea typeface="Plus Jakarta Sans" pitchFamily="34" charset="-122"/>
                <a:cs typeface="Plus Jakarta Sans" pitchFamily="34" charset="-120"/>
              </a:rPr>
              <a:t>12 – 24 MONTHS</a:t>
            </a:r>
            <a:endParaRPr lang="en-US" sz="1050" dirty="0"/>
          </a:p>
        </p:txBody>
      </p:sp>
      <p:sp>
        <p:nvSpPr>
          <p:cNvPr id="16" name="Text 13"/>
          <p:cNvSpPr/>
          <p:nvPr/>
        </p:nvSpPr>
        <p:spPr>
          <a:xfrm>
            <a:off x="1005840" y="4270248"/>
            <a:ext cx="7680960" cy="365760"/>
          </a:xfrm>
          <a:prstGeom prst="rect">
            <a:avLst/>
          </a:prstGeom>
          <a:noFill/>
          <a:ln/>
        </p:spPr>
        <p:txBody>
          <a:bodyPr wrap="square" lIns="0" tIns="0" rIns="0" bIns="0" rtlCol="0" anchor="ctr"/>
          <a:lstStyle/>
          <a:p>
            <a:pPr indent="0" marL="0">
              <a:buNone/>
            </a:pPr>
            <a:r>
              <a:rPr lang="en-US" sz="1600" b="1" dirty="0">
                <a:solidFill>
                  <a:srgbClr val="000000"/>
                </a:solidFill>
                <a:latin typeface="Plus Jakarta Sans" pitchFamily="34" charset="0"/>
                <a:ea typeface="Plus Jakarta Sans" pitchFamily="34" charset="-122"/>
                <a:cs typeface="Plus Jakarta Sans" pitchFamily="34" charset="-120"/>
              </a:rPr>
              <a:t>What turns this into a platform rather than an app?</a:t>
            </a:r>
            <a:endParaRPr lang="en-US" sz="1600" dirty="0"/>
          </a:p>
        </p:txBody>
      </p:sp>
      <p:sp>
        <p:nvSpPr>
          <p:cNvPr id="17" name="Shape 14"/>
          <p:cNvSpPr/>
          <p:nvPr/>
        </p:nvSpPr>
        <p:spPr>
          <a:xfrm>
            <a:off x="731520" y="5065776"/>
            <a:ext cx="10728655" cy="763524"/>
          </a:xfrm>
          <a:prstGeom prst="roundRect">
            <a:avLst>
              <a:gd name="adj" fmla="val 8383"/>
            </a:avLst>
          </a:prstGeom>
          <a:solidFill>
            <a:srgbClr val="FFE878"/>
          </a:solidFill>
          <a:ln w="12700">
            <a:solidFill>
              <a:srgbClr val="FFE878"/>
            </a:solidFill>
            <a:prstDash val="solid"/>
          </a:ln>
        </p:spPr>
      </p:sp>
      <p:sp>
        <p:nvSpPr>
          <p:cNvPr id="18" name="Text 15"/>
          <p:cNvSpPr/>
          <p:nvPr/>
        </p:nvSpPr>
        <p:spPr>
          <a:xfrm>
            <a:off x="987552" y="5184648"/>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9" name="Text 16"/>
          <p:cNvSpPr/>
          <p:nvPr/>
        </p:nvSpPr>
        <p:spPr>
          <a:xfrm>
            <a:off x="1005840" y="5431536"/>
            <a:ext cx="10180015" cy="306324"/>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The kill criterion. What result would make us stop and rethink? Write it now, while we can still be honest about it.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WHO'S BUILDING IT</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Team</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22</a:t>
            </a:r>
            <a:endParaRPr lang="en-US" sz="850" dirty="0"/>
          </a:p>
        </p:txBody>
      </p:sp>
      <p:sp>
        <p:nvSpPr>
          <p:cNvPr id="7" name="Shape 4"/>
          <p:cNvSpPr/>
          <p:nvPr/>
        </p:nvSpPr>
        <p:spPr>
          <a:xfrm>
            <a:off x="731520" y="1499616"/>
            <a:ext cx="3320186" cy="1554480"/>
          </a:xfrm>
          <a:prstGeom prst="roundRect">
            <a:avLst>
              <a:gd name="adj" fmla="val 4706"/>
            </a:avLst>
          </a:prstGeom>
          <a:solidFill>
            <a:srgbClr val="3F0059"/>
          </a:solidFill>
          <a:ln w="12700">
            <a:solidFill>
              <a:srgbClr val="3F0059"/>
            </a:solidFill>
            <a:prstDash val="solid"/>
          </a:ln>
        </p:spPr>
      </p:sp>
      <p:sp>
        <p:nvSpPr>
          <p:cNvPr id="8" name="Text 5"/>
          <p:cNvSpPr/>
          <p:nvPr/>
        </p:nvSpPr>
        <p:spPr>
          <a:xfrm>
            <a:off x="987552" y="1810512"/>
            <a:ext cx="2808122" cy="365760"/>
          </a:xfrm>
          <a:prstGeom prst="rect">
            <a:avLst/>
          </a:prstGeom>
          <a:noFill/>
          <a:ln/>
        </p:spPr>
        <p:txBody>
          <a:bodyPr wrap="square" lIns="0" tIns="0" rIns="0" bIns="0" rtlCol="0" anchor="ctr"/>
          <a:lstStyle/>
          <a:p>
            <a:pPr indent="0" marL="0">
              <a:buNone/>
            </a:pPr>
            <a:r>
              <a:rPr lang="en-US" sz="1700" b="1" dirty="0">
                <a:solidFill>
                  <a:srgbClr val="FFFFFF"/>
                </a:solidFill>
                <a:latin typeface="Plus Jakarta Sans" pitchFamily="34" charset="0"/>
                <a:ea typeface="Plus Jakarta Sans" pitchFamily="34" charset="-122"/>
                <a:cs typeface="Plus Jakarta Sans" pitchFamily="34" charset="-120"/>
              </a:rPr>
              <a:t>Shishir Bharti</a:t>
            </a:r>
            <a:endParaRPr lang="en-US" sz="1700" dirty="0"/>
          </a:p>
        </p:txBody>
      </p:sp>
      <p:sp>
        <p:nvSpPr>
          <p:cNvPr id="9" name="Text 6"/>
          <p:cNvSpPr/>
          <p:nvPr/>
        </p:nvSpPr>
        <p:spPr>
          <a:xfrm>
            <a:off x="987552" y="2267712"/>
            <a:ext cx="2808122" cy="640080"/>
          </a:xfrm>
          <a:prstGeom prst="rect">
            <a:avLst/>
          </a:prstGeom>
          <a:noFill/>
          <a:ln/>
        </p:spPr>
        <p:txBody>
          <a:bodyPr wrap="square" lIns="0" tIns="0" rIns="0" bIns="0" rtlCol="0" anchor="ctr"/>
          <a:lstStyle/>
          <a:p>
            <a:pPr indent="0" marL="0">
              <a:lnSpc>
                <a:spcPts val="1700"/>
              </a:lnSpc>
              <a:buNone/>
            </a:pPr>
            <a:r>
              <a:rPr lang="en-US" sz="1250" dirty="0">
                <a:solidFill>
                  <a:srgbClr val="C0ECFF"/>
                </a:solidFill>
                <a:latin typeface="Plus Jakarta Sans" pitchFamily="34" charset="0"/>
                <a:ea typeface="Plus Jakarta Sans" pitchFamily="34" charset="-122"/>
                <a:cs typeface="Plus Jakarta Sans" pitchFamily="34" charset="-120"/>
              </a:rPr>
              <a:t>Consumer, growth, go-to-market</a:t>
            </a:r>
            <a:endParaRPr lang="en-US" sz="1250" dirty="0"/>
          </a:p>
        </p:txBody>
      </p:sp>
      <p:sp>
        <p:nvSpPr>
          <p:cNvPr id="10" name="Shape 7"/>
          <p:cNvSpPr/>
          <p:nvPr/>
        </p:nvSpPr>
        <p:spPr>
          <a:xfrm>
            <a:off x="4353458" y="1499616"/>
            <a:ext cx="3320186" cy="1554480"/>
          </a:xfrm>
          <a:prstGeom prst="roundRect">
            <a:avLst>
              <a:gd name="adj" fmla="val 4706"/>
            </a:avLst>
          </a:prstGeom>
          <a:solidFill>
            <a:srgbClr val="3F0059"/>
          </a:solidFill>
          <a:ln w="12700">
            <a:solidFill>
              <a:srgbClr val="3F0059"/>
            </a:solidFill>
            <a:prstDash val="solid"/>
          </a:ln>
        </p:spPr>
      </p:sp>
      <p:sp>
        <p:nvSpPr>
          <p:cNvPr id="11" name="Text 8"/>
          <p:cNvSpPr/>
          <p:nvPr/>
        </p:nvSpPr>
        <p:spPr>
          <a:xfrm>
            <a:off x="4609490" y="1810512"/>
            <a:ext cx="2808122" cy="365760"/>
          </a:xfrm>
          <a:prstGeom prst="rect">
            <a:avLst/>
          </a:prstGeom>
          <a:noFill/>
          <a:ln/>
        </p:spPr>
        <p:txBody>
          <a:bodyPr wrap="square" lIns="0" tIns="0" rIns="0" bIns="0" rtlCol="0" anchor="ctr"/>
          <a:lstStyle/>
          <a:p>
            <a:pPr indent="0" marL="0">
              <a:buNone/>
            </a:pPr>
            <a:r>
              <a:rPr lang="en-US" sz="1700" b="1" dirty="0">
                <a:solidFill>
                  <a:srgbClr val="FFFFFF"/>
                </a:solidFill>
                <a:latin typeface="Plus Jakarta Sans" pitchFamily="34" charset="0"/>
                <a:ea typeface="Plus Jakarta Sans" pitchFamily="34" charset="-122"/>
                <a:cs typeface="Plus Jakarta Sans" pitchFamily="34" charset="-120"/>
              </a:rPr>
              <a:t>Luca Altomare</a:t>
            </a:r>
            <a:endParaRPr lang="en-US" sz="1700" dirty="0"/>
          </a:p>
        </p:txBody>
      </p:sp>
      <p:sp>
        <p:nvSpPr>
          <p:cNvPr id="12" name="Text 9"/>
          <p:cNvSpPr/>
          <p:nvPr/>
        </p:nvSpPr>
        <p:spPr>
          <a:xfrm>
            <a:off x="4609490" y="2267712"/>
            <a:ext cx="2808122" cy="640080"/>
          </a:xfrm>
          <a:prstGeom prst="rect">
            <a:avLst/>
          </a:prstGeom>
          <a:noFill/>
          <a:ln/>
        </p:spPr>
        <p:txBody>
          <a:bodyPr wrap="square" lIns="0" tIns="0" rIns="0" bIns="0" rtlCol="0" anchor="ctr"/>
          <a:lstStyle/>
          <a:p>
            <a:pPr indent="0" marL="0">
              <a:lnSpc>
                <a:spcPts val="1700"/>
              </a:lnSpc>
              <a:buNone/>
            </a:pPr>
            <a:r>
              <a:rPr lang="en-US" sz="1250" dirty="0">
                <a:solidFill>
                  <a:srgbClr val="C0ECFF"/>
                </a:solidFill>
                <a:latin typeface="Plus Jakarta Sans" pitchFamily="34" charset="0"/>
                <a:ea typeface="Plus Jakarta Sans" pitchFamily="34" charset="-122"/>
                <a:cs typeface="Plus Jakarta Sans" pitchFamily="34" charset="-120"/>
              </a:rPr>
              <a:t>Business side, partnerships, brands and banks</a:t>
            </a:r>
            <a:endParaRPr lang="en-US" sz="1250" dirty="0"/>
          </a:p>
        </p:txBody>
      </p:sp>
      <p:sp>
        <p:nvSpPr>
          <p:cNvPr id="13" name="Shape 10"/>
          <p:cNvSpPr/>
          <p:nvPr/>
        </p:nvSpPr>
        <p:spPr>
          <a:xfrm>
            <a:off x="7975397" y="1499616"/>
            <a:ext cx="3320186" cy="1554480"/>
          </a:xfrm>
          <a:prstGeom prst="roundRect">
            <a:avLst>
              <a:gd name="adj" fmla="val 4706"/>
            </a:avLst>
          </a:prstGeom>
          <a:solidFill>
            <a:srgbClr val="3F0059"/>
          </a:solidFill>
          <a:ln w="12700">
            <a:solidFill>
              <a:srgbClr val="3F0059"/>
            </a:solidFill>
            <a:prstDash val="solid"/>
          </a:ln>
        </p:spPr>
      </p:sp>
      <p:sp>
        <p:nvSpPr>
          <p:cNvPr id="14" name="Text 11"/>
          <p:cNvSpPr/>
          <p:nvPr/>
        </p:nvSpPr>
        <p:spPr>
          <a:xfrm>
            <a:off x="8231429" y="1810512"/>
            <a:ext cx="2808122" cy="365760"/>
          </a:xfrm>
          <a:prstGeom prst="rect">
            <a:avLst/>
          </a:prstGeom>
          <a:noFill/>
          <a:ln/>
        </p:spPr>
        <p:txBody>
          <a:bodyPr wrap="square" lIns="0" tIns="0" rIns="0" bIns="0" rtlCol="0" anchor="ctr"/>
          <a:lstStyle/>
          <a:p>
            <a:pPr indent="0" marL="0">
              <a:buNone/>
            </a:pPr>
            <a:r>
              <a:rPr lang="en-US" sz="1700" b="1" dirty="0">
                <a:solidFill>
                  <a:srgbClr val="FFFFFF"/>
                </a:solidFill>
                <a:latin typeface="Plus Jakarta Sans" pitchFamily="34" charset="0"/>
                <a:ea typeface="Plus Jakarta Sans" pitchFamily="34" charset="-122"/>
                <a:cs typeface="Plus Jakarta Sans" pitchFamily="34" charset="-120"/>
              </a:rPr>
              <a:t>Manish Jha</a:t>
            </a:r>
            <a:endParaRPr lang="en-US" sz="1700" dirty="0"/>
          </a:p>
        </p:txBody>
      </p:sp>
      <p:sp>
        <p:nvSpPr>
          <p:cNvPr id="15" name="Text 12"/>
          <p:cNvSpPr/>
          <p:nvPr/>
        </p:nvSpPr>
        <p:spPr>
          <a:xfrm>
            <a:off x="8231429" y="2267712"/>
            <a:ext cx="2808122" cy="640080"/>
          </a:xfrm>
          <a:prstGeom prst="rect">
            <a:avLst/>
          </a:prstGeom>
          <a:noFill/>
          <a:ln/>
        </p:spPr>
        <p:txBody>
          <a:bodyPr wrap="square" lIns="0" tIns="0" rIns="0" bIns="0" rtlCol="0" anchor="ctr"/>
          <a:lstStyle/>
          <a:p>
            <a:pPr indent="0" marL="0">
              <a:lnSpc>
                <a:spcPts val="1700"/>
              </a:lnSpc>
              <a:buNone/>
            </a:pPr>
            <a:r>
              <a:rPr lang="en-US" sz="1250" dirty="0">
                <a:solidFill>
                  <a:srgbClr val="C0ECFF"/>
                </a:solidFill>
                <a:latin typeface="Plus Jakarta Sans" pitchFamily="34" charset="0"/>
                <a:ea typeface="Plus Jakarta Sans" pitchFamily="34" charset="-122"/>
                <a:cs typeface="Plus Jakarta Sans" pitchFamily="34" charset="-120"/>
              </a:rPr>
              <a:t>Product and growth</a:t>
            </a:r>
            <a:endParaRPr lang="en-US" sz="1250" dirty="0"/>
          </a:p>
        </p:txBody>
      </p:sp>
      <p:sp>
        <p:nvSpPr>
          <p:cNvPr id="16" name="Shape 13"/>
          <p:cNvSpPr/>
          <p:nvPr/>
        </p:nvSpPr>
        <p:spPr>
          <a:xfrm>
            <a:off x="731520" y="3328416"/>
            <a:ext cx="10728655" cy="1051560"/>
          </a:xfrm>
          <a:prstGeom prst="roundRect">
            <a:avLst>
              <a:gd name="adj" fmla="val 6087"/>
            </a:avLst>
          </a:prstGeom>
          <a:solidFill>
            <a:srgbClr val="FFE878"/>
          </a:solidFill>
          <a:ln w="12700">
            <a:solidFill>
              <a:srgbClr val="FFE878"/>
            </a:solidFill>
            <a:prstDash val="solid"/>
          </a:ln>
        </p:spPr>
      </p:sp>
      <p:sp>
        <p:nvSpPr>
          <p:cNvPr id="17" name="Text 14"/>
          <p:cNvSpPr/>
          <p:nvPr/>
        </p:nvSpPr>
        <p:spPr>
          <a:xfrm>
            <a:off x="987552" y="3447288"/>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8" name="Text 15"/>
          <p:cNvSpPr/>
          <p:nvPr/>
        </p:nvSpPr>
        <p:spPr>
          <a:xfrm>
            <a:off x="1005840" y="3694176"/>
            <a:ext cx="10180015" cy="594360"/>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What's the “why us” line? Investors buy unfair advantage, not job titles. What do the three of us know or have that a random team doesn't?</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What role are we missing right now, and who covers it until we hire?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THE CASE</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Why invest</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23</a:t>
            </a:r>
            <a:endParaRPr lang="en-US" sz="850" dirty="0"/>
          </a:p>
        </p:txBody>
      </p:sp>
      <p:sp>
        <p:nvSpPr>
          <p:cNvPr id="7" name="Text 4"/>
          <p:cNvSpPr/>
          <p:nvPr/>
        </p:nvSpPr>
        <p:spPr>
          <a:xfrm>
            <a:off x="731520" y="1517904"/>
            <a:ext cx="3931920" cy="603504"/>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Real money is going to waste</a:t>
            </a:r>
            <a:endParaRPr lang="en-US" sz="1500" dirty="0"/>
          </a:p>
        </p:txBody>
      </p:sp>
      <p:sp>
        <p:nvSpPr>
          <p:cNvPr id="8" name="Text 5"/>
          <p:cNvSpPr/>
          <p:nvPr/>
        </p:nvSpPr>
        <p:spPr>
          <a:xfrm>
            <a:off x="4846320" y="1517904"/>
            <a:ext cx="6613855" cy="603504"/>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Loyalty value expires at scale because nobody can see it. Measurable, not a nice-to-have.</a:t>
            </a:r>
            <a:endParaRPr lang="en-US" sz="1250" dirty="0"/>
          </a:p>
        </p:txBody>
      </p:sp>
      <p:sp>
        <p:nvSpPr>
          <p:cNvPr id="9" name="Shape 6"/>
          <p:cNvSpPr/>
          <p:nvPr/>
        </p:nvSpPr>
        <p:spPr>
          <a:xfrm>
            <a:off x="731520" y="2130552"/>
            <a:ext cx="10728655" cy="0"/>
          </a:xfrm>
          <a:prstGeom prst="line">
            <a:avLst/>
          </a:prstGeom>
          <a:noFill/>
          <a:ln w="9525">
            <a:solidFill>
              <a:srgbClr val="D8D2DC"/>
            </a:solidFill>
            <a:prstDash val="solid"/>
          </a:ln>
        </p:spPr>
      </p:sp>
      <p:sp>
        <p:nvSpPr>
          <p:cNvPr id="10" name="Text 7"/>
          <p:cNvSpPr/>
          <p:nvPr/>
        </p:nvSpPr>
        <p:spPr>
          <a:xfrm>
            <a:off x="731520" y="2194560"/>
            <a:ext cx="3931920" cy="603504"/>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The timing works</a:t>
            </a:r>
            <a:endParaRPr lang="en-US" sz="1500" dirty="0"/>
          </a:p>
        </p:txBody>
      </p:sp>
      <p:sp>
        <p:nvSpPr>
          <p:cNvPr id="11" name="Text 8"/>
          <p:cNvSpPr/>
          <p:nvPr/>
        </p:nvSpPr>
        <p:spPr>
          <a:xfrm>
            <a:off x="4846320" y="2194560"/>
            <a:ext cx="6613855" cy="603504"/>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APIs are opening. AI can finally answer the question that matters. Neither was true five years ago.</a:t>
            </a:r>
            <a:endParaRPr lang="en-US" sz="1250" dirty="0"/>
          </a:p>
        </p:txBody>
      </p:sp>
      <p:sp>
        <p:nvSpPr>
          <p:cNvPr id="12" name="Shape 9"/>
          <p:cNvSpPr/>
          <p:nvPr/>
        </p:nvSpPr>
        <p:spPr>
          <a:xfrm>
            <a:off x="731520" y="2807208"/>
            <a:ext cx="10728655" cy="0"/>
          </a:xfrm>
          <a:prstGeom prst="line">
            <a:avLst/>
          </a:prstGeom>
          <a:noFill/>
          <a:ln w="9525">
            <a:solidFill>
              <a:srgbClr val="D8D2DC"/>
            </a:solidFill>
            <a:prstDash val="solid"/>
          </a:ln>
        </p:spPr>
      </p:sp>
      <p:sp>
        <p:nvSpPr>
          <p:cNvPr id="13" name="Text 10"/>
          <p:cNvSpPr/>
          <p:nvPr/>
        </p:nvSpPr>
        <p:spPr>
          <a:xfrm>
            <a:off x="731520" y="2871216"/>
            <a:ext cx="3931920" cy="603504"/>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India first is an advantage</a:t>
            </a:r>
            <a:endParaRPr lang="en-US" sz="1500" dirty="0"/>
          </a:p>
        </p:txBody>
      </p:sp>
      <p:sp>
        <p:nvSpPr>
          <p:cNvPr id="14" name="Text 11"/>
          <p:cNvSpPr/>
          <p:nvPr/>
        </p:nvSpPr>
        <p:spPr>
          <a:xfrm>
            <a:off x="4846320" y="2871216"/>
            <a:ext cx="6613855" cy="603504"/>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Dense programs, high card usage, a market global players build for late.</a:t>
            </a:r>
            <a:endParaRPr lang="en-US" sz="1250" dirty="0"/>
          </a:p>
        </p:txBody>
      </p:sp>
      <p:sp>
        <p:nvSpPr>
          <p:cNvPr id="15" name="Shape 12"/>
          <p:cNvSpPr/>
          <p:nvPr/>
        </p:nvSpPr>
        <p:spPr>
          <a:xfrm>
            <a:off x="731520" y="3483864"/>
            <a:ext cx="10728655" cy="0"/>
          </a:xfrm>
          <a:prstGeom prst="line">
            <a:avLst/>
          </a:prstGeom>
          <a:noFill/>
          <a:ln w="9525">
            <a:solidFill>
              <a:srgbClr val="D8D2DC"/>
            </a:solidFill>
            <a:prstDash val="solid"/>
          </a:ln>
        </p:spPr>
      </p:sp>
      <p:sp>
        <p:nvSpPr>
          <p:cNvPr id="16" name="Text 13"/>
          <p:cNvSpPr/>
          <p:nvPr/>
        </p:nvSpPr>
        <p:spPr>
          <a:xfrm>
            <a:off x="731520" y="3547872"/>
            <a:ext cx="3931920" cy="603504"/>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Two engines</a:t>
            </a:r>
            <a:endParaRPr lang="en-US" sz="1500" dirty="0"/>
          </a:p>
        </p:txBody>
      </p:sp>
      <p:sp>
        <p:nvSpPr>
          <p:cNvPr id="17" name="Text 14"/>
          <p:cNvSpPr/>
          <p:nvPr/>
        </p:nvSpPr>
        <p:spPr>
          <a:xfrm>
            <a:off x="4846320" y="3547872"/>
            <a:ext cx="6613855" cy="603504"/>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Consumers give us data and reach. Businesses give us revenue. Each makes the other stronger.</a:t>
            </a:r>
            <a:endParaRPr lang="en-US" sz="1250" dirty="0"/>
          </a:p>
        </p:txBody>
      </p:sp>
      <p:sp>
        <p:nvSpPr>
          <p:cNvPr id="18" name="Shape 15"/>
          <p:cNvSpPr/>
          <p:nvPr/>
        </p:nvSpPr>
        <p:spPr>
          <a:xfrm>
            <a:off x="731520" y="4160520"/>
            <a:ext cx="10728655" cy="0"/>
          </a:xfrm>
          <a:prstGeom prst="line">
            <a:avLst/>
          </a:prstGeom>
          <a:noFill/>
          <a:ln w="9525">
            <a:solidFill>
              <a:srgbClr val="D8D2DC"/>
            </a:solidFill>
            <a:prstDash val="solid"/>
          </a:ln>
        </p:spPr>
      </p:sp>
      <p:sp>
        <p:nvSpPr>
          <p:cNvPr id="19" name="Text 16"/>
          <p:cNvSpPr/>
          <p:nvPr/>
        </p:nvSpPr>
        <p:spPr>
          <a:xfrm>
            <a:off x="731520" y="4224528"/>
            <a:ext cx="3931920" cy="603504"/>
          </a:xfrm>
          <a:prstGeom prst="rect">
            <a:avLst/>
          </a:prstGeom>
          <a:noFill/>
          <a:ln/>
        </p:spPr>
        <p:txBody>
          <a:bodyPr wrap="square" lIns="0" tIns="0" rIns="0" bIns="0" rtlCol="0" anchor="ctr"/>
          <a:lstStyle/>
          <a:p>
            <a:pPr indent="0" marL="0">
              <a:buNone/>
            </a:pPr>
            <a:r>
              <a:rPr lang="en-US" sz="1500" b="1" dirty="0">
                <a:solidFill>
                  <a:srgbClr val="3F0059"/>
                </a:solidFill>
                <a:latin typeface="Plus Jakarta Sans" pitchFamily="34" charset="0"/>
                <a:ea typeface="Plus Jakarta Sans" pitchFamily="34" charset="-122"/>
                <a:cs typeface="Plus Jakarta Sans" pitchFamily="34" charset="-120"/>
              </a:rPr>
              <a:t>The data compounds</a:t>
            </a:r>
            <a:endParaRPr lang="en-US" sz="1500" dirty="0"/>
          </a:p>
        </p:txBody>
      </p:sp>
      <p:sp>
        <p:nvSpPr>
          <p:cNvPr id="20" name="Text 17"/>
          <p:cNvSpPr/>
          <p:nvPr/>
        </p:nvSpPr>
        <p:spPr>
          <a:xfrm>
            <a:off x="4846320" y="4224528"/>
            <a:ext cx="6613855" cy="603504"/>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Plus Jakarta Sans" pitchFamily="34" charset="0"/>
                <a:ea typeface="Plus Jakarta Sans" pitchFamily="34" charset="-122"/>
                <a:cs typeface="Plus Jakarta Sans" pitchFamily="34" charset="-120"/>
              </a:rPr>
              <a:t>Knowing what a point is actually worth gets better with every user — and can't be bought.</a:t>
            </a:r>
            <a:endParaRPr lang="en-US" sz="1250" dirty="0"/>
          </a:p>
        </p:txBody>
      </p:sp>
      <p:sp>
        <p:nvSpPr>
          <p:cNvPr id="21" name="Shape 18"/>
          <p:cNvSpPr/>
          <p:nvPr/>
        </p:nvSpPr>
        <p:spPr>
          <a:xfrm>
            <a:off x="731520" y="4974336"/>
            <a:ext cx="10728655" cy="1051560"/>
          </a:xfrm>
          <a:prstGeom prst="roundRect">
            <a:avLst>
              <a:gd name="adj" fmla="val 6087"/>
            </a:avLst>
          </a:prstGeom>
          <a:solidFill>
            <a:srgbClr val="FFE878"/>
          </a:solidFill>
          <a:ln w="12700">
            <a:solidFill>
              <a:srgbClr val="FFE878"/>
            </a:solidFill>
            <a:prstDash val="solid"/>
          </a:ln>
        </p:spPr>
      </p:sp>
      <p:sp>
        <p:nvSpPr>
          <p:cNvPr id="22" name="Text 19"/>
          <p:cNvSpPr/>
          <p:nvPr/>
        </p:nvSpPr>
        <p:spPr>
          <a:xfrm>
            <a:off x="987552" y="5093208"/>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23" name="Text 20"/>
          <p:cNvSpPr/>
          <p:nvPr/>
        </p:nvSpPr>
        <p:spPr>
          <a:xfrm>
            <a:off x="1005840" y="5340096"/>
            <a:ext cx="10180015" cy="594360"/>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What do we want to be true 24 months from now, in numbers?</a:t>
            </a:r>
            <a:endParaRPr lang="en-US" sz="1150" dirty="0"/>
          </a:p>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What would that cost, and what does the money buy — runway, team, integrations, or distribution?</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DISCIPLINE</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What we will not do</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24</a:t>
            </a:r>
            <a:endParaRPr lang="en-US" sz="850" dirty="0"/>
          </a:p>
        </p:txBody>
      </p:sp>
      <p:sp>
        <p:nvSpPr>
          <p:cNvPr id="7" name="Text 4"/>
          <p:cNvSpPr/>
          <p:nvPr/>
        </p:nvSpPr>
        <p:spPr>
          <a:xfrm>
            <a:off x="731520" y="1499616"/>
            <a:ext cx="10728655" cy="325120"/>
          </a:xfrm>
          <a:prstGeom prst="rect">
            <a:avLst/>
          </a:prstGeom>
          <a:noFill/>
          <a:ln/>
        </p:spPr>
        <p:txBody>
          <a:bodyPr wrap="square" lIns="0" tIns="0" rIns="0" bIns="0" rtlCol="0" anchor="ctr"/>
          <a:lstStyle/>
          <a:p>
            <a:pPr indent="0" marL="0">
              <a:lnSpc>
                <a:spcPts val="2320"/>
              </a:lnSpc>
              <a:buNone/>
            </a:pPr>
            <a:r>
              <a:rPr lang="en-US" sz="1600" dirty="0">
                <a:solidFill>
                  <a:srgbClr val="000000"/>
                </a:solidFill>
                <a:latin typeface="Plus Jakarta Sans" pitchFamily="34" charset="0"/>
                <a:ea typeface="Plus Jakarta Sans" pitchFamily="34" charset="-122"/>
                <a:cs typeface="Plus Jakarta Sans" pitchFamily="34" charset="-120"/>
              </a:rPr>
              <a:t>Investors trust founders who've said no to something specific. If saying no costs us nothing, it isn't a real no.</a:t>
            </a:r>
            <a:endParaRPr lang="en-US" sz="1600" dirty="0"/>
          </a:p>
        </p:txBody>
      </p:sp>
      <p:sp>
        <p:nvSpPr>
          <p:cNvPr id="8" name="Shape 5"/>
          <p:cNvSpPr/>
          <p:nvPr/>
        </p:nvSpPr>
        <p:spPr>
          <a:xfrm>
            <a:off x="731520" y="2135632"/>
            <a:ext cx="10728655" cy="749808"/>
          </a:xfrm>
          <a:prstGeom prst="roundRect">
            <a:avLst>
              <a:gd name="adj" fmla="val 8537"/>
            </a:avLst>
          </a:prstGeom>
          <a:solidFill>
            <a:srgbClr val="FFFFFF"/>
          </a:solidFill>
          <a:ln w="15240">
            <a:solidFill>
              <a:srgbClr val="3F0059"/>
            </a:solidFill>
            <a:prstDash val="solid"/>
          </a:ln>
        </p:spPr>
      </p:sp>
      <p:sp>
        <p:nvSpPr>
          <p:cNvPr id="9" name="Text 6"/>
          <p:cNvSpPr/>
          <p:nvPr/>
        </p:nvSpPr>
        <p:spPr>
          <a:xfrm>
            <a:off x="1005840" y="2135632"/>
            <a:ext cx="457200" cy="749808"/>
          </a:xfrm>
          <a:prstGeom prst="rect">
            <a:avLst/>
          </a:prstGeom>
          <a:noFill/>
          <a:ln/>
        </p:spPr>
        <p:txBody>
          <a:bodyPr wrap="square" lIns="0" tIns="0" rIns="0" bIns="0" rtlCol="0" anchor="ctr"/>
          <a:lstStyle/>
          <a:p>
            <a:pPr indent="0" marL="0">
              <a:buNone/>
            </a:pPr>
            <a:r>
              <a:rPr lang="en-US" sz="2000" b="1" dirty="0">
                <a:solidFill>
                  <a:srgbClr val="C0ECFF"/>
                </a:solidFill>
                <a:latin typeface="Plus Jakarta Sans" pitchFamily="34" charset="0"/>
                <a:ea typeface="Plus Jakarta Sans" pitchFamily="34" charset="-122"/>
                <a:cs typeface="Plus Jakarta Sans" pitchFamily="34" charset="-120"/>
              </a:rPr>
              <a:t>1</a:t>
            </a:r>
            <a:endParaRPr lang="en-US" sz="2000" dirty="0"/>
          </a:p>
        </p:txBody>
      </p:sp>
      <p:sp>
        <p:nvSpPr>
          <p:cNvPr id="10" name="Shape 7"/>
          <p:cNvSpPr/>
          <p:nvPr/>
        </p:nvSpPr>
        <p:spPr>
          <a:xfrm>
            <a:off x="731520" y="3050032"/>
            <a:ext cx="10728655" cy="749808"/>
          </a:xfrm>
          <a:prstGeom prst="roundRect">
            <a:avLst>
              <a:gd name="adj" fmla="val 8537"/>
            </a:avLst>
          </a:prstGeom>
          <a:solidFill>
            <a:srgbClr val="FFFFFF"/>
          </a:solidFill>
          <a:ln w="15240">
            <a:solidFill>
              <a:srgbClr val="3F0059"/>
            </a:solidFill>
            <a:prstDash val="solid"/>
          </a:ln>
        </p:spPr>
      </p:sp>
      <p:sp>
        <p:nvSpPr>
          <p:cNvPr id="11" name="Text 8"/>
          <p:cNvSpPr/>
          <p:nvPr/>
        </p:nvSpPr>
        <p:spPr>
          <a:xfrm>
            <a:off x="1005840" y="3050032"/>
            <a:ext cx="457200" cy="749808"/>
          </a:xfrm>
          <a:prstGeom prst="rect">
            <a:avLst/>
          </a:prstGeom>
          <a:noFill/>
          <a:ln/>
        </p:spPr>
        <p:txBody>
          <a:bodyPr wrap="square" lIns="0" tIns="0" rIns="0" bIns="0" rtlCol="0" anchor="ctr"/>
          <a:lstStyle/>
          <a:p>
            <a:pPr indent="0" marL="0">
              <a:buNone/>
            </a:pPr>
            <a:r>
              <a:rPr lang="en-US" sz="2000" b="1" dirty="0">
                <a:solidFill>
                  <a:srgbClr val="C0ECFF"/>
                </a:solidFill>
                <a:latin typeface="Plus Jakarta Sans" pitchFamily="34" charset="0"/>
                <a:ea typeface="Plus Jakarta Sans" pitchFamily="34" charset="-122"/>
                <a:cs typeface="Plus Jakarta Sans" pitchFamily="34" charset="-120"/>
              </a:rPr>
              <a:t>2</a:t>
            </a:r>
            <a:endParaRPr lang="en-US" sz="2000" dirty="0"/>
          </a:p>
        </p:txBody>
      </p:sp>
      <p:sp>
        <p:nvSpPr>
          <p:cNvPr id="12" name="Shape 9"/>
          <p:cNvSpPr/>
          <p:nvPr/>
        </p:nvSpPr>
        <p:spPr>
          <a:xfrm>
            <a:off x="731520" y="3964432"/>
            <a:ext cx="10728655" cy="749808"/>
          </a:xfrm>
          <a:prstGeom prst="roundRect">
            <a:avLst>
              <a:gd name="adj" fmla="val 8537"/>
            </a:avLst>
          </a:prstGeom>
          <a:solidFill>
            <a:srgbClr val="FFFFFF"/>
          </a:solidFill>
          <a:ln w="15240">
            <a:solidFill>
              <a:srgbClr val="3F0059"/>
            </a:solidFill>
            <a:prstDash val="solid"/>
          </a:ln>
        </p:spPr>
      </p:sp>
      <p:sp>
        <p:nvSpPr>
          <p:cNvPr id="13" name="Text 10"/>
          <p:cNvSpPr/>
          <p:nvPr/>
        </p:nvSpPr>
        <p:spPr>
          <a:xfrm>
            <a:off x="1005840" y="3964432"/>
            <a:ext cx="457200" cy="749808"/>
          </a:xfrm>
          <a:prstGeom prst="rect">
            <a:avLst/>
          </a:prstGeom>
          <a:noFill/>
          <a:ln/>
        </p:spPr>
        <p:txBody>
          <a:bodyPr wrap="square" lIns="0" tIns="0" rIns="0" bIns="0" rtlCol="0" anchor="ctr"/>
          <a:lstStyle/>
          <a:p>
            <a:pPr indent="0" marL="0">
              <a:buNone/>
            </a:pPr>
            <a:r>
              <a:rPr lang="en-US" sz="2000" b="1" dirty="0">
                <a:solidFill>
                  <a:srgbClr val="C0ECFF"/>
                </a:solidFill>
                <a:latin typeface="Plus Jakarta Sans" pitchFamily="34" charset="0"/>
                <a:ea typeface="Plus Jakarta Sans" pitchFamily="34" charset="-122"/>
                <a:cs typeface="Plus Jakarta Sans" pitchFamily="34" charset="-120"/>
              </a:rPr>
              <a:t>3</a:t>
            </a:r>
            <a:endParaRPr lang="en-US" sz="2000" dirty="0"/>
          </a:p>
        </p:txBody>
      </p:sp>
      <p:sp>
        <p:nvSpPr>
          <p:cNvPr id="14" name="Shape 11"/>
          <p:cNvSpPr/>
          <p:nvPr/>
        </p:nvSpPr>
        <p:spPr>
          <a:xfrm>
            <a:off x="731520" y="4988560"/>
            <a:ext cx="10728655" cy="763524"/>
          </a:xfrm>
          <a:prstGeom prst="roundRect">
            <a:avLst>
              <a:gd name="adj" fmla="val 8383"/>
            </a:avLst>
          </a:prstGeom>
          <a:solidFill>
            <a:srgbClr val="FFE878"/>
          </a:solidFill>
          <a:ln w="12700">
            <a:solidFill>
              <a:srgbClr val="FFE878"/>
            </a:solidFill>
            <a:prstDash val="solid"/>
          </a:ln>
        </p:spPr>
      </p:sp>
      <p:sp>
        <p:nvSpPr>
          <p:cNvPr id="15" name="Text 12"/>
          <p:cNvSpPr/>
          <p:nvPr/>
        </p:nvSpPr>
        <p:spPr>
          <a:xfrm>
            <a:off x="987552" y="5107432"/>
            <a:ext cx="10216591" cy="219456"/>
          </a:xfrm>
          <a:prstGeom prst="rect">
            <a:avLst/>
          </a:prstGeom>
          <a:noFill/>
          <a:ln/>
        </p:spPr>
        <p:txBody>
          <a:bodyPr wrap="square" lIns="0" tIns="0" rIns="0" bIns="0" rtlCol="0" anchor="ctr"/>
          <a:lstStyle/>
          <a:p>
            <a:pPr indent="0" marL="0">
              <a:buNone/>
            </a:pPr>
            <a:r>
              <a:rPr lang="en-US" sz="950" b="1" spc="130" kern="0" dirty="0">
                <a:solidFill>
                  <a:srgbClr val="000000"/>
                </a:solidFill>
                <a:latin typeface="Plus Jakarta Sans" pitchFamily="34" charset="0"/>
                <a:ea typeface="Plus Jakarta Sans" pitchFamily="34" charset="-122"/>
                <a:cs typeface="Plus Jakarta Sans" pitchFamily="34" charset="-120"/>
              </a:rPr>
              <a:t>OPEN — FOUNDERS MUST DECIDE</a:t>
            </a:r>
            <a:endParaRPr lang="en-US" sz="950" dirty="0"/>
          </a:p>
        </p:txBody>
      </p:sp>
      <p:sp>
        <p:nvSpPr>
          <p:cNvPr id="16" name="Text 13"/>
          <p:cNvSpPr/>
          <p:nvPr/>
        </p:nvSpPr>
        <p:spPr>
          <a:xfrm>
            <a:off x="1005840" y="5354320"/>
            <a:ext cx="10180015" cy="306324"/>
          </a:xfrm>
          <a:prstGeom prst="rect">
            <a:avLst/>
          </a:prstGeom>
          <a:noFill/>
          <a:ln/>
        </p:spPr>
        <p:txBody>
          <a:bodyPr wrap="square" lIns="0" tIns="0" rIns="0" bIns="0" rtlCol="0" anchor="ctr"/>
          <a:lstStyle/>
          <a:p>
            <a:pPr marL="342900" indent="-342900">
              <a:lnSpc>
                <a:spcPts val="1600"/>
              </a:lnSpc>
              <a:spcAft>
                <a:spcPts val="300"/>
              </a:spcAft>
              <a:buSzPct val="100000"/>
              <a:buChar char="●"/>
            </a:pPr>
            <a:r>
              <a:rPr lang="en-US" sz="1150" dirty="0">
                <a:solidFill>
                  <a:srgbClr val="000000"/>
                </a:solidFill>
                <a:latin typeface="Plus Jakarta Sans" pitchFamily="34" charset="0"/>
                <a:ea typeface="Plus Jakarta Sans" pitchFamily="34" charset="-122"/>
                <a:cs typeface="Plus Jakarta Sans" pitchFamily="34" charset="-120"/>
              </a:rPr>
              <a:t>Three answers. They should sting a little.</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3F0059"/>
        </a:solidFill>
      </p:bgPr>
    </p:bg>
    <p:spTree>
      <p:nvGrpSpPr>
        <p:cNvPr id="1" name=""/>
        <p:cNvGrpSpPr/>
        <p:nvPr/>
      </p:nvGrpSpPr>
      <p:grpSpPr>
        <a:xfrm>
          <a:off x="0" y="0"/>
          <a:ext cx="0" cy="0"/>
          <a:chOff x="0" y="0"/>
          <a:chExt cx="0" cy="0"/>
        </a:xfrm>
      </p:grpSpPr>
      <p:sp>
        <p:nvSpPr>
          <p:cNvPr id="2" name="Text 0"/>
          <p:cNvSpPr/>
          <p:nvPr/>
        </p:nvSpPr>
        <p:spPr>
          <a:xfrm>
            <a:off x="731520" y="1737360"/>
            <a:ext cx="10728655" cy="256032"/>
          </a:xfrm>
          <a:prstGeom prst="rect">
            <a:avLst/>
          </a:prstGeom>
          <a:noFill/>
          <a:ln/>
        </p:spPr>
        <p:txBody>
          <a:bodyPr wrap="square" lIns="0" tIns="0" rIns="0" bIns="0" rtlCol="0" anchor="ctr"/>
          <a:lstStyle/>
          <a:p>
            <a:pPr indent="0" marL="0">
              <a:buNone/>
            </a:pPr>
            <a:r>
              <a:rPr lang="en-US" sz="1100" b="1" spc="220" kern="0" dirty="0">
                <a:solidFill>
                  <a:srgbClr val="02EFF4"/>
                </a:solidFill>
                <a:latin typeface="Plus Jakarta Sans" pitchFamily="34" charset="0"/>
                <a:ea typeface="Plus Jakarta Sans" pitchFamily="34" charset="-122"/>
                <a:cs typeface="Plus Jakarta Sans" pitchFamily="34" charset="-120"/>
              </a:rPr>
              <a:t>EVERYTHING ABOVE, IN ONE LIST</a:t>
            </a:r>
            <a:endParaRPr lang="en-US" sz="1100" dirty="0"/>
          </a:p>
        </p:txBody>
      </p:sp>
      <p:sp>
        <p:nvSpPr>
          <p:cNvPr id="3" name="Text 1"/>
          <p:cNvSpPr/>
          <p:nvPr/>
        </p:nvSpPr>
        <p:spPr>
          <a:xfrm>
            <a:off x="731520" y="2148840"/>
            <a:ext cx="9357055" cy="109728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Plus Jakarta Sans" pitchFamily="34" charset="0"/>
                <a:ea typeface="Plus Jakarta Sans" pitchFamily="34" charset="-122"/>
                <a:cs typeface="Plus Jakarta Sans" pitchFamily="34" charset="-120"/>
              </a:rPr>
              <a:t>The questions</a:t>
            </a:r>
            <a:endParaRPr lang="en-US" sz="4400" dirty="0"/>
          </a:p>
          <a:p>
            <a:pPr indent="0" marL="0">
              <a:lnSpc>
                <a:spcPts val="5200"/>
              </a:lnSpc>
              <a:buNone/>
            </a:pPr>
            <a:r>
              <a:rPr lang="en-US" sz="4400" b="1" dirty="0">
                <a:solidFill>
                  <a:srgbClr val="FFFFFF"/>
                </a:solidFill>
                <a:latin typeface="Plus Jakarta Sans" pitchFamily="34" charset="0"/>
                <a:ea typeface="Plus Jakarta Sans" pitchFamily="34" charset="-122"/>
                <a:cs typeface="Plus Jakarta Sans" pitchFamily="34" charset="-120"/>
              </a:rPr>
              <a:t>we owe each other</a:t>
            </a:r>
            <a:endParaRPr lang="en-US" sz="4400" dirty="0"/>
          </a:p>
        </p:txBody>
      </p:sp>
      <p:pic>
        <p:nvPicPr>
          <p:cNvPr id="4" name="Image 0" descr="preencoded.png">    </p:cNvPr>
          <p:cNvPicPr>
            <a:picLocks noChangeAspect="1"/>
          </p:cNvPicPr>
          <p:nvPr/>
        </p:nvPicPr>
        <p:blipFill>
          <a:blip r:embed="rId1"/>
          <a:stretch>
            <a:fillRect/>
          </a:stretch>
        </p:blipFill>
        <p:spPr>
          <a:xfrm>
            <a:off x="731520" y="3429000"/>
            <a:ext cx="6949440" cy="251919"/>
          </a:xfrm>
          <a:prstGeom prst="rect">
            <a:avLst/>
          </a:prstGeom>
        </p:spPr>
      </p:pic>
      <p:sp>
        <p:nvSpPr>
          <p:cNvPr id="5" name="Text 2"/>
          <p:cNvSpPr/>
          <p:nvPr/>
        </p:nvSpPr>
        <p:spPr>
          <a:xfrm>
            <a:off x="731520" y="3794760"/>
            <a:ext cx="9357055" cy="731520"/>
          </a:xfrm>
          <a:prstGeom prst="rect">
            <a:avLst/>
          </a:prstGeom>
          <a:noFill/>
          <a:ln/>
        </p:spPr>
        <p:txBody>
          <a:bodyPr wrap="square" lIns="0" tIns="0" rIns="0" bIns="0" rtlCol="0" anchor="ctr"/>
          <a:lstStyle/>
          <a:p>
            <a:pPr indent="0" marL="0">
              <a:lnSpc>
                <a:spcPts val="2200"/>
              </a:lnSpc>
              <a:buNone/>
            </a:pPr>
            <a:r>
              <a:rPr lang="en-US" sz="1500" dirty="0">
                <a:solidFill>
                  <a:srgbClr val="C9AEDB"/>
                </a:solidFill>
                <a:latin typeface="Plus Jakarta Sans" pitchFamily="34" charset="0"/>
                <a:ea typeface="Plus Jakarta Sans" pitchFamily="34" charset="-122"/>
                <a:cs typeface="Plus Jakarta Sans" pitchFamily="34" charset="-120"/>
              </a:rPr>
              <a:t>26 open items. This is the offsite agenda.</a:t>
            </a:r>
            <a:endParaRPr lang="en-US" sz="1500" dirty="0"/>
          </a:p>
        </p:txBody>
      </p:sp>
      <p:pic>
        <p:nvPicPr>
          <p:cNvPr id="6" name="Image 1" descr="preencoded.png">    </p:cNvPr>
          <p:cNvPicPr>
            <a:picLocks noChangeAspect="1"/>
          </p:cNvPicPr>
          <p:nvPr/>
        </p:nvPicPr>
        <p:blipFill>
          <a:blip r:embed="rId2"/>
          <a:stretch>
            <a:fillRect/>
          </a:stretch>
        </p:blipFill>
        <p:spPr>
          <a:xfrm>
            <a:off x="731520" y="6345936"/>
            <a:ext cx="167445" cy="256032"/>
          </a:xfrm>
          <a:prstGeom prst="rect">
            <a:avLst/>
          </a:prstGeom>
        </p:spPr>
      </p:pic>
      <p:sp>
        <p:nvSpPr>
          <p:cNvPr id="7" name="Text 3"/>
          <p:cNvSpPr/>
          <p:nvPr/>
        </p:nvSpPr>
        <p:spPr>
          <a:xfrm>
            <a:off x="1280160" y="6400800"/>
            <a:ext cx="5486400" cy="219456"/>
          </a:xfrm>
          <a:prstGeom prst="rect">
            <a:avLst/>
          </a:prstGeom>
          <a:noFill/>
          <a:ln/>
        </p:spPr>
        <p:txBody>
          <a:bodyPr wrap="square" lIns="0" tIns="0" rIns="0" bIns="0" rtlCol="0" anchor="ctr"/>
          <a:lstStyle/>
          <a:p>
            <a:pPr indent="0" marL="0">
              <a:buNone/>
            </a:pPr>
            <a:r>
              <a:rPr lang="en-US" sz="850" dirty="0">
                <a:solidFill>
                  <a:srgbClr val="8C6FA3"/>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8" name="Text 4"/>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8C6FA3"/>
                </a:solidFill>
                <a:latin typeface="Plus Jakarta Sans" pitchFamily="34" charset="0"/>
                <a:ea typeface="Plus Jakarta Sans" pitchFamily="34" charset="-122"/>
                <a:cs typeface="Plus Jakarta Sans"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OPEN QUESTIONS</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Story, customer and product</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26</a:t>
            </a:r>
            <a:endParaRPr lang="en-US" sz="850" dirty="0"/>
          </a:p>
        </p:txBody>
      </p:sp>
      <p:sp>
        <p:nvSpPr>
          <p:cNvPr id="7" name="Text 4"/>
          <p:cNvSpPr/>
          <p:nvPr/>
        </p:nvSpPr>
        <p:spPr>
          <a:xfrm>
            <a:off x="731520" y="1453896"/>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STORY</a:t>
            </a:r>
            <a:endParaRPr lang="en-US" sz="1000" dirty="0"/>
          </a:p>
        </p:txBody>
      </p:sp>
      <p:sp>
        <p:nvSpPr>
          <p:cNvPr id="8" name="Text 5"/>
          <p:cNvSpPr/>
          <p:nvPr/>
        </p:nvSpPr>
        <p:spPr>
          <a:xfrm>
            <a:off x="768096" y="1746504"/>
            <a:ext cx="10692079" cy="822960"/>
          </a:xfrm>
          <a:prstGeom prst="rect">
            <a:avLst/>
          </a:prstGeom>
          <a:noFill/>
          <a:ln/>
        </p:spPr>
        <p:txBody>
          <a:bodyPr wrap="square" lIns="0" tIns="0" rIns="0" bIns="0" rtlCol="0" anchor="ctr"/>
          <a:lstStyle/>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The one-liner</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The vision, in words all three of us would repeat</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Why nobody has won this yet</a:t>
            </a:r>
            <a:endParaRPr lang="en-US" sz="1300" dirty="0"/>
          </a:p>
        </p:txBody>
      </p:sp>
      <p:sp>
        <p:nvSpPr>
          <p:cNvPr id="9" name="Text 6"/>
          <p:cNvSpPr/>
          <p:nvPr/>
        </p:nvSpPr>
        <p:spPr>
          <a:xfrm>
            <a:off x="731520" y="2788920"/>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CUSTOMER</a:t>
            </a:r>
            <a:endParaRPr lang="en-US" sz="1000" dirty="0"/>
          </a:p>
        </p:txBody>
      </p:sp>
      <p:sp>
        <p:nvSpPr>
          <p:cNvPr id="10" name="Text 7"/>
          <p:cNvSpPr/>
          <p:nvPr/>
        </p:nvSpPr>
        <p:spPr>
          <a:xfrm>
            <a:off x="768096" y="3081528"/>
            <a:ext cx="10692079" cy="822960"/>
          </a:xfrm>
          <a:prstGeom prst="rect">
            <a:avLst/>
          </a:prstGeom>
          <a:noFill/>
          <a:ln/>
        </p:spPr>
        <p:txBody>
          <a:bodyPr wrap="square" lIns="0" tIns="0" rIns="0" bIns="0" rtlCol="0" anchor="ctr"/>
          <a:lstStyle/>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Beachhead — named specifically</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Why them: pain, payment, data or distribution</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B2C or B2B first — pick one</a:t>
            </a:r>
            <a:endParaRPr lang="en-US" sz="1300" dirty="0"/>
          </a:p>
        </p:txBody>
      </p:sp>
      <p:sp>
        <p:nvSpPr>
          <p:cNvPr id="11" name="Text 8"/>
          <p:cNvSpPr/>
          <p:nvPr/>
        </p:nvSpPr>
        <p:spPr>
          <a:xfrm>
            <a:off x="731520" y="4123944"/>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PRODUCT</a:t>
            </a:r>
            <a:endParaRPr lang="en-US" sz="1000" dirty="0"/>
          </a:p>
        </p:txBody>
      </p:sp>
      <p:sp>
        <p:nvSpPr>
          <p:cNvPr id="12" name="Text 9"/>
          <p:cNvSpPr/>
          <p:nvPr/>
        </p:nvSpPr>
        <p:spPr>
          <a:xfrm>
            <a:off x="768096" y="4416552"/>
            <a:ext cx="10692079" cy="1371600"/>
          </a:xfrm>
          <a:prstGeom prst="rect">
            <a:avLst/>
          </a:prstGeom>
          <a:noFill/>
          <a:ln/>
        </p:spPr>
        <p:txBody>
          <a:bodyPr wrap="square" lIns="0" tIns="0" rIns="0" bIns="0" rtlCol="0" anchor="ctr"/>
          <a:lstStyle/>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Which of see / protect / decide / use is the headline</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What's built versus mocked</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What we offer brand number one, with no users</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Coverage: what share of points sit in the top 50</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India-only integrations year one, or global too</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OPEN QUESTIONS</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Money, AI, moat and company</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27</a:t>
            </a:r>
            <a:endParaRPr lang="en-US" sz="850" dirty="0"/>
          </a:p>
        </p:txBody>
      </p:sp>
      <p:sp>
        <p:nvSpPr>
          <p:cNvPr id="7" name="Text 4"/>
          <p:cNvSpPr/>
          <p:nvPr/>
        </p:nvSpPr>
        <p:spPr>
          <a:xfrm>
            <a:off x="731520" y="1453896"/>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MONEY</a:t>
            </a:r>
            <a:endParaRPr lang="en-US" sz="1000" dirty="0"/>
          </a:p>
        </p:txBody>
      </p:sp>
      <p:sp>
        <p:nvSpPr>
          <p:cNvPr id="8" name="Text 5"/>
          <p:cNvSpPr/>
          <p:nvPr/>
        </p:nvSpPr>
        <p:spPr>
          <a:xfrm>
            <a:off x="768096" y="1746504"/>
            <a:ext cx="10692079" cy="822960"/>
          </a:xfrm>
          <a:prstGeom prst="rect">
            <a:avLst/>
          </a:prstGeom>
          <a:noFill/>
          <a:ln/>
        </p:spPr>
        <p:txBody>
          <a:bodyPr wrap="square" lIns="0" tIns="0" rIns="0" bIns="0" rtlCol="0" anchor="ctr"/>
          <a:lstStyle/>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Revenue streams ranked Now / Next / Later / Never</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Who pays first, and when</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Does the consumer app pay for itself, or feed the B2B business</a:t>
            </a:r>
            <a:endParaRPr lang="en-US" sz="1300" dirty="0"/>
          </a:p>
        </p:txBody>
      </p:sp>
      <p:sp>
        <p:nvSpPr>
          <p:cNvPr id="9" name="Text 6"/>
          <p:cNvSpPr/>
          <p:nvPr/>
        </p:nvSpPr>
        <p:spPr>
          <a:xfrm>
            <a:off x="731520" y="2788920"/>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AI</a:t>
            </a:r>
            <a:endParaRPr lang="en-US" sz="1000" dirty="0"/>
          </a:p>
        </p:txBody>
      </p:sp>
      <p:sp>
        <p:nvSpPr>
          <p:cNvPr id="10" name="Text 7"/>
          <p:cNvSpPr/>
          <p:nvPr/>
        </p:nvSpPr>
        <p:spPr>
          <a:xfrm>
            <a:off x="768096" y="3081528"/>
            <a:ext cx="10692079" cy="548640"/>
          </a:xfrm>
          <a:prstGeom prst="rect">
            <a:avLst/>
          </a:prstGeom>
          <a:noFill/>
          <a:ln/>
        </p:spPr>
        <p:txBody>
          <a:bodyPr wrap="square" lIns="0" tIns="0" rIns="0" bIns="0" rtlCol="0" anchor="ctr"/>
          <a:lstStyle/>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Our level — 1, 2, 3 or 4</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What's defensible when models are commodity</a:t>
            </a:r>
            <a:endParaRPr lang="en-US" sz="1300" dirty="0"/>
          </a:p>
        </p:txBody>
      </p:sp>
      <p:sp>
        <p:nvSpPr>
          <p:cNvPr id="11" name="Text 8"/>
          <p:cNvSpPr/>
          <p:nvPr/>
        </p:nvSpPr>
        <p:spPr>
          <a:xfrm>
            <a:off x="731520" y="3849624"/>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MOAT</a:t>
            </a:r>
            <a:endParaRPr lang="en-US" sz="1000" dirty="0"/>
          </a:p>
        </p:txBody>
      </p:sp>
      <p:sp>
        <p:nvSpPr>
          <p:cNvPr id="12" name="Text 9"/>
          <p:cNvSpPr/>
          <p:nvPr/>
        </p:nvSpPr>
        <p:spPr>
          <a:xfrm>
            <a:off x="768096" y="4142232"/>
            <a:ext cx="10692079" cy="548640"/>
          </a:xfrm>
          <a:prstGeom prst="rect">
            <a:avLst/>
          </a:prstGeom>
          <a:noFill/>
          <a:ln/>
        </p:spPr>
        <p:txBody>
          <a:bodyPr wrap="square" lIns="0" tIns="0" rIns="0" bIns="0" rtlCol="0" anchor="ctr"/>
          <a:lstStyle/>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Why can't a bank, a big tech, or an incumbent build it</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Our one primary moat</a:t>
            </a:r>
            <a:endParaRPr lang="en-US" sz="1300" dirty="0"/>
          </a:p>
        </p:txBody>
      </p:sp>
      <p:sp>
        <p:nvSpPr>
          <p:cNvPr id="13" name="Text 10"/>
          <p:cNvSpPr/>
          <p:nvPr/>
        </p:nvSpPr>
        <p:spPr>
          <a:xfrm>
            <a:off x="731520" y="4910328"/>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COMPANY</a:t>
            </a:r>
            <a:endParaRPr lang="en-US" sz="1000" dirty="0"/>
          </a:p>
        </p:txBody>
      </p:sp>
      <p:sp>
        <p:nvSpPr>
          <p:cNvPr id="14" name="Text 11"/>
          <p:cNvSpPr/>
          <p:nvPr/>
        </p:nvSpPr>
        <p:spPr>
          <a:xfrm>
            <a:off x="768096" y="5202936"/>
            <a:ext cx="10692079" cy="548640"/>
          </a:xfrm>
          <a:prstGeom prst="rect">
            <a:avLst/>
          </a:prstGeom>
          <a:noFill/>
          <a:ln/>
        </p:spPr>
        <p:txBody>
          <a:bodyPr wrap="square" lIns="0" tIns="0" rIns="0" bIns="0" rtlCol="0" anchor="ctr"/>
          <a:lstStyle/>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Which of the seven companies we're building, and in what order</a:t>
            </a:r>
            <a:endParaRPr lang="en-US" sz="1300" dirty="0"/>
          </a:p>
          <a:p>
            <a:pPr marL="342900" indent="-342900">
              <a:lnSpc>
                <a:spcPts val="1800"/>
              </a:lnSpc>
              <a:spcAft>
                <a:spcPts val="4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The Coin: in, mentioned, or cut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8655" cy="219456"/>
          </a:xfrm>
          <a:prstGeom prst="rect">
            <a:avLst/>
          </a:prstGeom>
          <a:noFill/>
          <a:ln/>
        </p:spPr>
        <p:txBody>
          <a:bodyPr wrap="square" lIns="0" tIns="0" rIns="0" bIns="0" rtlCol="0" anchor="ctr"/>
          <a:lstStyle/>
          <a:p>
            <a:pPr indent="0" marL="0">
              <a:buNone/>
            </a:pPr>
            <a:r>
              <a:rPr lang="en-US" sz="950" b="1" spc="160" kern="0" dirty="0">
                <a:solidFill>
                  <a:srgbClr val="01A2FB"/>
                </a:solidFill>
                <a:latin typeface="Plus Jakarta Sans" pitchFamily="34" charset="0"/>
                <a:ea typeface="Plus Jakarta Sans" pitchFamily="34" charset="-122"/>
                <a:cs typeface="Plus Jakarta Sans" pitchFamily="34" charset="-120"/>
              </a:rPr>
              <a:t>OPEN QUESTIONS</a:t>
            </a:r>
            <a:endParaRPr lang="en-US" sz="950" dirty="0"/>
          </a:p>
        </p:txBody>
      </p:sp>
      <p:sp>
        <p:nvSpPr>
          <p:cNvPr id="3" name="Text 1"/>
          <p:cNvSpPr/>
          <p:nvPr/>
        </p:nvSpPr>
        <p:spPr>
          <a:xfrm>
            <a:off x="731520" y="749808"/>
            <a:ext cx="10728655" cy="603504"/>
          </a:xfrm>
          <a:prstGeom prst="rect">
            <a:avLst/>
          </a:prstGeom>
          <a:noFill/>
          <a:ln/>
        </p:spPr>
        <p:txBody>
          <a:bodyPr wrap="square" lIns="0" tIns="0" rIns="0" bIns="0" rtlCol="0" anchor="ctr"/>
          <a:lstStyle/>
          <a:p>
            <a:pPr indent="0" marL="0">
              <a:lnSpc>
                <a:spcPts val="3800"/>
              </a:lnSpc>
              <a:buNone/>
            </a:pPr>
            <a:r>
              <a:rPr lang="en-US" sz="3200" b="1" dirty="0">
                <a:solidFill>
                  <a:srgbClr val="000000"/>
                </a:solidFill>
                <a:latin typeface="Plus Jakarta Sans" pitchFamily="34" charset="0"/>
                <a:ea typeface="Plus Jakarta Sans" pitchFamily="34" charset="-122"/>
                <a:cs typeface="Plus Jakarta Sans" pitchFamily="34" charset="-120"/>
              </a:rPr>
              <a:t>Facts I need, and discipline</a:t>
            </a:r>
            <a:endParaRPr lang="en-US" sz="3200" dirty="0"/>
          </a:p>
        </p:txBody>
      </p:sp>
      <p:pic>
        <p:nvPicPr>
          <p:cNvPr id="4" name="Image 0" descr="preencoded.png">    </p:cNvPr>
          <p:cNvPicPr>
            <a:picLocks noChangeAspect="1"/>
          </p:cNvPicPr>
          <p:nvPr/>
        </p:nvPicPr>
        <p:blipFill>
          <a:blip r:embed="rId1"/>
          <a:stretch>
            <a:fillRect/>
          </a:stretch>
        </p:blipFill>
        <p:spPr>
          <a:xfrm>
            <a:off x="731520" y="6382512"/>
            <a:ext cx="657088" cy="182880"/>
          </a:xfrm>
          <a:prstGeom prst="rect">
            <a:avLst/>
          </a:prstGeom>
        </p:spPr>
      </p:pic>
      <p:sp>
        <p:nvSpPr>
          <p:cNvPr id="5" name="Text 2"/>
          <p:cNvSpPr/>
          <p:nvPr/>
        </p:nvSpPr>
        <p:spPr>
          <a:xfrm>
            <a:off x="2011680" y="6400800"/>
            <a:ext cx="5486400" cy="219456"/>
          </a:xfrm>
          <a:prstGeom prst="rect">
            <a:avLst/>
          </a:prstGeom>
          <a:noFill/>
          <a:ln/>
        </p:spPr>
        <p:txBody>
          <a:bodyPr wrap="square" lIns="0" tIns="0" rIns="0" bIns="0" rtlCol="0" anchor="ctr"/>
          <a:lstStyle/>
          <a:p>
            <a:pPr indent="0" marL="0">
              <a:buNone/>
            </a:pPr>
            <a:r>
              <a:rPr lang="en-US" sz="850" dirty="0">
                <a:solidFill>
                  <a:srgbClr val="6B6B6B"/>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6"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6B6B6B"/>
                </a:solidFill>
                <a:latin typeface="Plus Jakarta Sans" pitchFamily="34" charset="0"/>
                <a:ea typeface="Plus Jakarta Sans" pitchFamily="34" charset="-122"/>
                <a:cs typeface="Plus Jakarta Sans" pitchFamily="34" charset="-120"/>
              </a:rPr>
              <a:t>28</a:t>
            </a:r>
            <a:endParaRPr lang="en-US" sz="850" dirty="0"/>
          </a:p>
        </p:txBody>
      </p:sp>
      <p:sp>
        <p:nvSpPr>
          <p:cNvPr id="7" name="Text 4"/>
          <p:cNvSpPr/>
          <p:nvPr/>
        </p:nvSpPr>
        <p:spPr>
          <a:xfrm>
            <a:off x="731520" y="1453896"/>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FACTS I DON'T HAVE</a:t>
            </a:r>
            <a:endParaRPr lang="en-US" sz="1000" dirty="0"/>
          </a:p>
        </p:txBody>
      </p:sp>
      <p:sp>
        <p:nvSpPr>
          <p:cNvPr id="8" name="Text 5"/>
          <p:cNvSpPr/>
          <p:nvPr/>
        </p:nvSpPr>
        <p:spPr>
          <a:xfrm>
            <a:off x="768096" y="1764792"/>
            <a:ext cx="10692079" cy="1502664"/>
          </a:xfrm>
          <a:prstGeom prst="rect">
            <a:avLst/>
          </a:prstGeom>
          <a:noFill/>
          <a:ln/>
        </p:spPr>
        <p:txBody>
          <a:bodyPr wrap="square" lIns="0" tIns="0" rIns="0" bIns="0" rtlCol="0" anchor="ctr"/>
          <a:lstStyle/>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Competitor list</a:t>
            </a:r>
            <a:endParaRPr lang="en-US" sz="1300" dirty="0"/>
          </a:p>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Market numbers</a:t>
            </a:r>
            <a:endParaRPr lang="en-US" sz="1300" dirty="0"/>
          </a:p>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Any user feedback at all</a:t>
            </a:r>
            <a:endParaRPr lang="en-US" sz="1300" dirty="0"/>
          </a:p>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Real hours per founder</a:t>
            </a:r>
            <a:endParaRPr lang="en-US" sz="1300" dirty="0"/>
          </a:p>
        </p:txBody>
      </p:sp>
      <p:sp>
        <p:nvSpPr>
          <p:cNvPr id="9" name="Text 6"/>
          <p:cNvSpPr/>
          <p:nvPr/>
        </p:nvSpPr>
        <p:spPr>
          <a:xfrm>
            <a:off x="731520" y="3541776"/>
            <a:ext cx="10728655" cy="237744"/>
          </a:xfrm>
          <a:prstGeom prst="rect">
            <a:avLst/>
          </a:prstGeom>
          <a:noFill/>
          <a:ln/>
        </p:spPr>
        <p:txBody>
          <a:bodyPr wrap="square" lIns="0" tIns="0" rIns="0" bIns="0" rtlCol="0" anchor="ctr"/>
          <a:lstStyle/>
          <a:p>
            <a:pPr indent="0" marL="0">
              <a:buNone/>
            </a:pPr>
            <a:r>
              <a:rPr lang="en-US" sz="1000" b="1" spc="150" kern="0" dirty="0">
                <a:solidFill>
                  <a:srgbClr val="01A2FB"/>
                </a:solidFill>
                <a:latin typeface="Plus Jakarta Sans" pitchFamily="34" charset="0"/>
                <a:ea typeface="Plus Jakarta Sans" pitchFamily="34" charset="-122"/>
                <a:cs typeface="Plus Jakarta Sans" pitchFamily="34" charset="-120"/>
              </a:rPr>
              <a:t>DISCIPLINE</a:t>
            </a:r>
            <a:endParaRPr lang="en-US" sz="1000" dirty="0"/>
          </a:p>
        </p:txBody>
      </p:sp>
      <p:sp>
        <p:nvSpPr>
          <p:cNvPr id="10" name="Text 7"/>
          <p:cNvSpPr/>
          <p:nvPr/>
        </p:nvSpPr>
        <p:spPr>
          <a:xfrm>
            <a:off x="768096" y="3852672"/>
            <a:ext cx="10692079" cy="751332"/>
          </a:xfrm>
          <a:prstGeom prst="rect">
            <a:avLst/>
          </a:prstGeom>
          <a:noFill/>
          <a:ln/>
        </p:spPr>
        <p:txBody>
          <a:bodyPr wrap="square" lIns="0" tIns="0" rIns="0" bIns="0" rtlCol="0" anchor="ctr"/>
          <a:lstStyle/>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Three things we will not do</a:t>
            </a:r>
            <a:endParaRPr lang="en-US" sz="1300" dirty="0"/>
          </a:p>
          <a:p>
            <a:pPr marL="342900" indent="-342900">
              <a:lnSpc>
                <a:spcPts val="1846"/>
              </a:lnSpc>
              <a:spcAft>
                <a:spcPts val="600"/>
              </a:spcAft>
              <a:buSzPct val="100000"/>
              <a:buChar char="●"/>
            </a:pPr>
            <a:r>
              <a:rPr lang="en-US" sz="1300" dirty="0">
                <a:solidFill>
                  <a:srgbClr val="000000"/>
                </a:solidFill>
                <a:latin typeface="Plus Jakarta Sans" pitchFamily="34" charset="0"/>
                <a:ea typeface="Plus Jakarta Sans" pitchFamily="34" charset="-122"/>
                <a:cs typeface="Plus Jakarta Sans" pitchFamily="34" charset="-120"/>
              </a:rPr>
              <a:t>The kill criterion</a:t>
            </a:r>
            <a:endParaRPr lang="en-US" sz="1300" dirty="0"/>
          </a:p>
        </p:txBody>
      </p:sp>
      <p:sp>
        <p:nvSpPr>
          <p:cNvPr id="11" name="Shape 8"/>
          <p:cNvSpPr/>
          <p:nvPr/>
        </p:nvSpPr>
        <p:spPr>
          <a:xfrm>
            <a:off x="731520" y="4914900"/>
            <a:ext cx="10728655" cy="1225296"/>
          </a:xfrm>
          <a:prstGeom prst="roundRect">
            <a:avLst>
              <a:gd name="adj" fmla="val 5970"/>
            </a:avLst>
          </a:prstGeom>
          <a:solidFill>
            <a:srgbClr val="3F0059"/>
          </a:solidFill>
          <a:ln w="12700">
            <a:solidFill>
              <a:srgbClr val="3F0059"/>
            </a:solidFill>
            <a:prstDash val="solid"/>
          </a:ln>
        </p:spPr>
      </p:sp>
      <p:sp>
        <p:nvSpPr>
          <p:cNvPr id="12" name="Text 9"/>
          <p:cNvSpPr/>
          <p:nvPr/>
        </p:nvSpPr>
        <p:spPr>
          <a:xfrm>
            <a:off x="1060704" y="5116068"/>
            <a:ext cx="10070287" cy="868680"/>
          </a:xfrm>
          <a:prstGeom prst="rect">
            <a:avLst/>
          </a:prstGeom>
          <a:noFill/>
          <a:ln/>
        </p:spPr>
        <p:txBody>
          <a:bodyPr wrap="square" lIns="0" tIns="0" rIns="0" bIns="0" rtlCol="0" anchor="ctr"/>
          <a:lstStyle/>
          <a:p>
            <a:pPr indent="0" marL="0">
              <a:lnSpc>
                <a:spcPts val="2200"/>
              </a:lnSpc>
              <a:buNone/>
            </a:pPr>
            <a:r>
              <a:rPr lang="en-US" sz="1500" dirty="0">
                <a:solidFill>
                  <a:srgbClr val="FFFFFF"/>
                </a:solidFill>
                <a:latin typeface="Plus Jakarta Sans" pitchFamily="34" charset="0"/>
                <a:ea typeface="Plus Jakarta Sans" pitchFamily="34" charset="-122"/>
                <a:cs typeface="Plus Jakarta Sans" pitchFamily="34" charset="-120"/>
              </a:rPr>
              <a:t>My honest read: B2C-or-B2B, what we offer brand number one, our AI level, and which company we're building are the four that decide everything. The rest follow. If the offsite settles only those four, it was worth it.</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3F005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1371600"/>
            <a:ext cx="1708785" cy="1143000"/>
          </a:xfrm>
          <a:prstGeom prst="rect">
            <a:avLst/>
          </a:prstGeom>
        </p:spPr>
      </p:pic>
      <p:sp>
        <p:nvSpPr>
          <p:cNvPr id="3" name="Text 0"/>
          <p:cNvSpPr/>
          <p:nvPr/>
        </p:nvSpPr>
        <p:spPr>
          <a:xfrm>
            <a:off x="731520" y="2971800"/>
            <a:ext cx="9875520" cy="1554480"/>
          </a:xfrm>
          <a:prstGeom prst="rect">
            <a:avLst/>
          </a:prstGeom>
          <a:noFill/>
          <a:ln/>
        </p:spPr>
        <p:txBody>
          <a:bodyPr wrap="square" lIns="0" tIns="0" rIns="0" bIns="0" rtlCol="0" anchor="ctr"/>
          <a:lstStyle/>
          <a:p>
            <a:pPr indent="0" marL="0">
              <a:lnSpc>
                <a:spcPts val="4800"/>
              </a:lnSpc>
              <a:buNone/>
            </a:pPr>
            <a:r>
              <a:rPr lang="en-US" sz="3800" b="1" dirty="0">
                <a:solidFill>
                  <a:srgbClr val="FFFFFF"/>
                </a:solidFill>
                <a:latin typeface="Plus Jakarta Sans" pitchFamily="34" charset="0"/>
                <a:ea typeface="Plus Jakarta Sans" pitchFamily="34" charset="-122"/>
                <a:cs typeface="Plus Jakarta Sans" pitchFamily="34" charset="-120"/>
              </a:rPr>
              <a:t>We're not asking anyone</a:t>
            </a:r>
            <a:endParaRPr lang="en-US" sz="3800" dirty="0"/>
          </a:p>
          <a:p>
            <a:pPr indent="0" marL="0">
              <a:lnSpc>
                <a:spcPts val="4800"/>
              </a:lnSpc>
              <a:buNone/>
            </a:pPr>
            <a:r>
              <a:rPr lang="en-US" sz="3800" b="1" dirty="0">
                <a:solidFill>
                  <a:srgbClr val="FFFFFF"/>
                </a:solidFill>
                <a:latin typeface="Plus Jakarta Sans" pitchFamily="34" charset="0"/>
                <a:ea typeface="Plus Jakarta Sans" pitchFamily="34" charset="-122"/>
                <a:cs typeface="Plus Jakarta Sans" pitchFamily="34" charset="-120"/>
              </a:rPr>
              <a:t>to believe this yet.</a:t>
            </a:r>
            <a:endParaRPr lang="en-US" sz="3800" dirty="0"/>
          </a:p>
        </p:txBody>
      </p:sp>
      <p:pic>
        <p:nvPicPr>
          <p:cNvPr id="4" name="Image 1" descr="preencoded.png">    </p:cNvPr>
          <p:cNvPicPr>
            <a:picLocks noChangeAspect="1"/>
          </p:cNvPicPr>
          <p:nvPr/>
        </p:nvPicPr>
        <p:blipFill>
          <a:blip r:embed="rId2"/>
          <a:stretch>
            <a:fillRect/>
          </a:stretch>
        </p:blipFill>
        <p:spPr>
          <a:xfrm>
            <a:off x="731520" y="4754880"/>
            <a:ext cx="6949440" cy="251919"/>
          </a:xfrm>
          <a:prstGeom prst="rect">
            <a:avLst/>
          </a:prstGeom>
        </p:spPr>
      </p:pic>
      <p:sp>
        <p:nvSpPr>
          <p:cNvPr id="5" name="Text 1"/>
          <p:cNvSpPr/>
          <p:nvPr/>
        </p:nvSpPr>
        <p:spPr>
          <a:xfrm>
            <a:off x="731520" y="5029200"/>
            <a:ext cx="9144000" cy="365760"/>
          </a:xfrm>
          <a:prstGeom prst="rect">
            <a:avLst/>
          </a:prstGeom>
          <a:noFill/>
          <a:ln/>
        </p:spPr>
        <p:txBody>
          <a:bodyPr wrap="square" lIns="0" tIns="0" rIns="0" bIns="0" rtlCol="0" anchor="ctr"/>
          <a:lstStyle/>
          <a:p>
            <a:pPr indent="0" marL="0">
              <a:buNone/>
            </a:pPr>
            <a:r>
              <a:rPr lang="en-US" sz="1600" dirty="0">
                <a:solidFill>
                  <a:srgbClr val="C0ECFF"/>
                </a:solidFill>
                <a:latin typeface="Plus Jakarta Sans" pitchFamily="34" charset="0"/>
                <a:ea typeface="Plus Jakarta Sans" pitchFamily="34" charset="-122"/>
                <a:cs typeface="Plus Jakarta Sans" pitchFamily="34" charset="-120"/>
              </a:rPr>
              <a:t>First the three of us have to believe the same thing.</a:t>
            </a:r>
            <a:endParaRPr lang="en-US" sz="1600" dirty="0"/>
          </a:p>
        </p:txBody>
      </p:sp>
      <p:pic>
        <p:nvPicPr>
          <p:cNvPr id="6" name="Image 2" descr="preencoded.png">    </p:cNvPr>
          <p:cNvPicPr>
            <a:picLocks noChangeAspect="1"/>
          </p:cNvPicPr>
          <p:nvPr/>
        </p:nvPicPr>
        <p:blipFill>
          <a:blip r:embed="rId3"/>
          <a:stretch>
            <a:fillRect/>
          </a:stretch>
        </p:blipFill>
        <p:spPr>
          <a:xfrm>
            <a:off x="731520" y="6345936"/>
            <a:ext cx="167445" cy="256032"/>
          </a:xfrm>
          <a:prstGeom prst="rect">
            <a:avLst/>
          </a:prstGeom>
        </p:spPr>
      </p:pic>
      <p:sp>
        <p:nvSpPr>
          <p:cNvPr id="7" name="Text 2"/>
          <p:cNvSpPr/>
          <p:nvPr/>
        </p:nvSpPr>
        <p:spPr>
          <a:xfrm>
            <a:off x="1280160" y="6400800"/>
            <a:ext cx="5486400" cy="219456"/>
          </a:xfrm>
          <a:prstGeom prst="rect">
            <a:avLst/>
          </a:prstGeom>
          <a:noFill/>
          <a:ln/>
        </p:spPr>
        <p:txBody>
          <a:bodyPr wrap="square" lIns="0" tIns="0" rIns="0" bIns="0" rtlCol="0" anchor="ctr"/>
          <a:lstStyle/>
          <a:p>
            <a:pPr indent="0" marL="0">
              <a:buNone/>
            </a:pPr>
            <a:r>
              <a:rPr lang="en-US" sz="850" dirty="0">
                <a:solidFill>
                  <a:srgbClr val="8C6FA3"/>
                </a:solidFill>
                <a:latin typeface="Plus Jakarta Sans" pitchFamily="34" charset="0"/>
                <a:ea typeface="Plus Jakarta Sans" pitchFamily="34" charset="-122"/>
                <a:cs typeface="Plus Jakarta Sans" pitchFamily="34" charset="-120"/>
              </a:rPr>
              <a:t>Investor deck · Draft v1 · Internal</a:t>
            </a:r>
            <a:endParaRPr lang="en-US" sz="850" dirty="0"/>
          </a:p>
        </p:txBody>
      </p:sp>
      <p:sp>
        <p:nvSpPr>
          <p:cNvPr id="8" name="Text 3"/>
          <p:cNvSpPr/>
          <p:nvPr/>
        </p:nvSpPr>
        <p:spPr>
          <a:xfrm>
            <a:off x="10545775" y="6400800"/>
            <a:ext cx="914400" cy="219456"/>
          </a:xfrm>
          <a:prstGeom prst="rect">
            <a:avLst/>
          </a:prstGeom>
          <a:noFill/>
          <a:ln/>
        </p:spPr>
        <p:txBody>
          <a:bodyPr wrap="square" lIns="0" tIns="0" rIns="0" bIns="0" rtlCol="0" anchor="ctr"/>
          <a:lstStyle/>
          <a:p>
            <a:pPr algn="r" indent="0" marL="0">
              <a:buNone/>
            </a:pPr>
            <a:r>
              <a:rPr lang="en-US" sz="850" dirty="0">
                <a:solidFill>
                  <a:srgbClr val="8C6FA3"/>
                </a:solidFill>
                <a:latin typeface="Plus Jakarta Sans" pitchFamily="34" charset="0"/>
                <a:ea typeface="Plus Jakarta Sans" pitchFamily="34" charset="-122"/>
                <a:cs typeface="Plus Jakarta Sans" pitchFamily="34" charset="-120"/>
              </a:rPr>
              <a:t>29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PointzPlus — Investor Deck (Draft v1)</dc:title>
  <dc:subject>PptxGenJS Presentation</dc:subject>
  <dc:creator>PointzPlus</dc:creator>
  <cp:lastModifiedBy>PointzPlus</cp:lastModifiedBy>
  <cp:revision>1</cp:revision>
  <dcterms:created xsi:type="dcterms:W3CDTF">2026-08-24T11:25:13Z</dcterms:created>
  <dcterms:modified xsi:type="dcterms:W3CDTF">2026-08-24T11:25:13Z</dcterms:modified>
</cp:coreProperties>
</file>